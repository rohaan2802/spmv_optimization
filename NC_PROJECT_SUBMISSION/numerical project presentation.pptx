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7" r:id="rId1"/>
  </p:sldMasterIdLst>
  <p:notesMasterIdLst>
    <p:notesMasterId r:id="rId20"/>
  </p:notesMasterIdLst>
  <p:sldIdLst>
    <p:sldId id="256" r:id="rId2"/>
    <p:sldId id="257" r:id="rId3"/>
    <p:sldId id="259" r:id="rId4"/>
    <p:sldId id="260" r:id="rId5"/>
    <p:sldId id="267" r:id="rId6"/>
    <p:sldId id="272" r:id="rId7"/>
    <p:sldId id="273" r:id="rId8"/>
    <p:sldId id="284" r:id="rId9"/>
    <p:sldId id="275" r:id="rId10"/>
    <p:sldId id="285" r:id="rId11"/>
    <p:sldId id="289" r:id="rId12"/>
    <p:sldId id="288" r:id="rId13"/>
    <p:sldId id="286" r:id="rId14"/>
    <p:sldId id="278" r:id="rId15"/>
    <p:sldId id="283" r:id="rId16"/>
    <p:sldId id="282" r:id="rId17"/>
    <p:sldId id="274" r:id="rId18"/>
    <p:sldId id="279" r:id="rId1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BBD5"/>
    <a:srgbClr val="184769"/>
    <a:srgbClr val="1AD9D4"/>
    <a:srgbClr val="1BD8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77F627C-A79C-4CEA-9F43-E7185F252452}">
  <a:tblStyle styleId="{277F627C-A79C-4CEA-9F43-E7185F25245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A45F09D-0C3F-4549-A737-6A49AB54CD0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89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5ed75ccf_0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5ed75ccf_0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d206f4fe3_27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d206f4fe3_27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c89b53d510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c89b53d510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5ed75ccf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35ed75ccf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c89b53d510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c89b53d510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>
          <a:extLst>
            <a:ext uri="{FF2B5EF4-FFF2-40B4-BE49-F238E27FC236}">
              <a16:creationId xmlns:a16="http://schemas.microsoft.com/office/drawing/2014/main" id="{45372E6E-40EA-1885-34DD-84197360E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c89b53d510_0_74:notes">
            <a:extLst>
              <a:ext uri="{FF2B5EF4-FFF2-40B4-BE49-F238E27FC236}">
                <a16:creationId xmlns:a16="http://schemas.microsoft.com/office/drawing/2014/main" id="{56EFF01A-0215-D37A-C899-5CB7D13BF8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c89b53d510_0_74:notes">
            <a:extLst>
              <a:ext uri="{FF2B5EF4-FFF2-40B4-BE49-F238E27FC236}">
                <a16:creationId xmlns:a16="http://schemas.microsoft.com/office/drawing/2014/main" id="{ABD5C415-B99E-338F-BDD7-666A1CDBF2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1088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c89b53d510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c89b53d510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c89b53d510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c89b53d510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5ed75ccf_0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5ed75ccf_0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c89b53d510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c89b53d510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c89b53d510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c89b53d510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5ed75ccf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35ed75ccf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 flipH="1">
            <a:off x="3919993" y="3977033"/>
            <a:ext cx="1303500" cy="112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30000" y="0"/>
                </a:moveTo>
                <a:lnTo>
                  <a:pt x="0" y="59994"/>
                </a:lnTo>
                <a:lnTo>
                  <a:pt x="30000" y="120000"/>
                </a:lnTo>
                <a:lnTo>
                  <a:pt x="90000" y="120000"/>
                </a:lnTo>
                <a:lnTo>
                  <a:pt x="120000" y="59994"/>
                </a:lnTo>
                <a:lnTo>
                  <a:pt x="90000" y="0"/>
                </a:lnTo>
                <a:lnTo>
                  <a:pt x="30000" y="0"/>
                </a:lnTo>
                <a:close/>
                <a:moveTo>
                  <a:pt x="38477" y="16950"/>
                </a:moveTo>
                <a:lnTo>
                  <a:pt x="81522" y="16950"/>
                </a:lnTo>
                <a:lnTo>
                  <a:pt x="103033" y="59994"/>
                </a:lnTo>
                <a:lnTo>
                  <a:pt x="81522" y="103038"/>
                </a:lnTo>
                <a:lnTo>
                  <a:pt x="38477" y="103038"/>
                </a:lnTo>
                <a:lnTo>
                  <a:pt x="16955" y="59994"/>
                </a:lnTo>
                <a:lnTo>
                  <a:pt x="38477" y="1695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lin ang="6983783" scaled="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" name="Google Shape;11;p2"/>
          <p:cNvSpPr/>
          <p:nvPr/>
        </p:nvSpPr>
        <p:spPr>
          <a:xfrm rot="5400000">
            <a:off x="3809057" y="-81000"/>
            <a:ext cx="1525500" cy="1761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lnTo>
                  <a:pt x="120000" y="30000"/>
                </a:lnTo>
                <a:lnTo>
                  <a:pt x="120000" y="90000"/>
                </a:lnTo>
                <a:lnTo>
                  <a:pt x="60000" y="120000"/>
                </a:lnTo>
                <a:lnTo>
                  <a:pt x="0" y="90000"/>
                </a:lnTo>
                <a:lnTo>
                  <a:pt x="0" y="3000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400175" y="1991825"/>
            <a:ext cx="63435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/>
          <p:nvPr/>
        </p:nvSpPr>
        <p:spPr>
          <a:xfrm rot="10800000" flipH="1">
            <a:off x="2809875" y="-172875"/>
            <a:ext cx="1111500" cy="962400"/>
          </a:xfrm>
          <a:prstGeom prst="hexagon">
            <a:avLst>
              <a:gd name="adj" fmla="val 28678"/>
              <a:gd name="vf" fmla="val 115470"/>
            </a:avLst>
          </a:prstGeom>
          <a:noFill/>
          <a:ln w="19050" cap="flat" cmpd="sng">
            <a:solidFill>
              <a:srgbClr val="19BB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 rot="10800000" flipH="1">
            <a:off x="3602723" y="1360109"/>
            <a:ext cx="493800" cy="4275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 rot="10800000" flipH="1">
            <a:off x="5278915" y="855279"/>
            <a:ext cx="944700" cy="818100"/>
          </a:xfrm>
          <a:prstGeom prst="hexagon">
            <a:avLst>
              <a:gd name="adj" fmla="val 28678"/>
              <a:gd name="vf" fmla="val 115470"/>
            </a:avLst>
          </a:prstGeom>
          <a:noFill/>
          <a:ln w="76200" cap="flat" cmpd="sng">
            <a:solidFill>
              <a:srgbClr val="18476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 rot="10800000" flipH="1">
            <a:off x="5365799" y="352324"/>
            <a:ext cx="493800" cy="4272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00E1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" name="Google Shape;17;p2"/>
          <p:cNvGrpSpPr/>
          <p:nvPr/>
        </p:nvGrpSpPr>
        <p:grpSpPr>
          <a:xfrm>
            <a:off x="5549153" y="1029780"/>
            <a:ext cx="404640" cy="374059"/>
            <a:chOff x="5975075" y="2327500"/>
            <a:chExt cx="420100" cy="388350"/>
          </a:xfrm>
        </p:grpSpPr>
        <p:sp>
          <p:nvSpPr>
            <p:cNvPr id="18" name="Google Shape;18;p2"/>
            <p:cNvSpPr/>
            <p:nvPr/>
          </p:nvSpPr>
          <p:spPr>
            <a:xfrm>
              <a:off x="5975075" y="2474650"/>
              <a:ext cx="98325" cy="220450"/>
            </a:xfrm>
            <a:custGeom>
              <a:avLst/>
              <a:gdLst/>
              <a:ahLst/>
              <a:cxnLst/>
              <a:rect l="l" t="t" r="r" b="b"/>
              <a:pathLst>
                <a:path w="3933" h="8818" extrusionOk="0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088025" y="2327500"/>
              <a:ext cx="307150" cy="388350"/>
            </a:xfrm>
            <a:custGeom>
              <a:avLst/>
              <a:gdLst/>
              <a:ahLst/>
              <a:cxnLst/>
              <a:rect l="l" t="t" r="r" b="b"/>
              <a:pathLst>
                <a:path w="12286" h="15534" extrusionOk="0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Google Shape;20;p2"/>
          <p:cNvSpPr/>
          <p:nvPr/>
        </p:nvSpPr>
        <p:spPr>
          <a:xfrm>
            <a:off x="3253021" y="113273"/>
            <a:ext cx="225085" cy="389964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19B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" name="Google Shape;21;p2"/>
          <p:cNvGrpSpPr/>
          <p:nvPr/>
        </p:nvGrpSpPr>
        <p:grpSpPr>
          <a:xfrm>
            <a:off x="4380526" y="515192"/>
            <a:ext cx="382958" cy="607111"/>
            <a:chOff x="6718575" y="2318625"/>
            <a:chExt cx="256950" cy="407375"/>
          </a:xfrm>
        </p:grpSpPr>
        <p:sp>
          <p:nvSpPr>
            <p:cNvPr id="22" name="Google Shape;22;p2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l" t="t" r="r" b="b"/>
              <a:pathLst>
                <a:path w="4092" h="1195" fill="none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l" t="t" r="r" b="b"/>
              <a:pathLst>
                <a:path w="10278" h="12301" fill="none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l" t="t" r="r" b="b"/>
              <a:pathLst>
                <a:path w="3606" h="780" fill="none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l" t="t" r="r" b="b"/>
              <a:pathLst>
                <a:path w="4092" h="1" fill="none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3199464" y="902959"/>
            <a:ext cx="395018" cy="403297"/>
            <a:chOff x="3951850" y="2985350"/>
            <a:chExt cx="407950" cy="416500"/>
          </a:xfrm>
        </p:grpSpPr>
        <p:sp>
          <p:nvSpPr>
            <p:cNvPr id="31" name="Google Shape;31;p2"/>
            <p:cNvSpPr/>
            <p:nvPr/>
          </p:nvSpPr>
          <p:spPr>
            <a:xfrm>
              <a:off x="3951850" y="2985350"/>
              <a:ext cx="314800" cy="314825"/>
            </a:xfrm>
            <a:custGeom>
              <a:avLst/>
              <a:gdLst/>
              <a:ahLst/>
              <a:cxnLst/>
              <a:rect l="l" t="t" r="r" b="b"/>
              <a:pathLst>
                <a:path w="12592" h="12593" fill="none" extrusionOk="0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988375" y="3021875"/>
              <a:ext cx="241750" cy="241750"/>
            </a:xfrm>
            <a:custGeom>
              <a:avLst/>
              <a:gdLst/>
              <a:ahLst/>
              <a:cxnLst/>
              <a:rect l="l" t="t" r="r" b="b"/>
              <a:pathLst>
                <a:path w="9670" h="9670" fill="none" extrusionOk="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4024300" y="3058425"/>
              <a:ext cx="84650" cy="84650"/>
            </a:xfrm>
            <a:custGeom>
              <a:avLst/>
              <a:gdLst/>
              <a:ahLst/>
              <a:cxnLst/>
              <a:rect l="l" t="t" r="r" b="b"/>
              <a:pathLst>
                <a:path w="3386" h="3386" fill="none" extrusionOk="0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4205750" y="3248375"/>
              <a:ext cx="154050" cy="153475"/>
            </a:xfrm>
            <a:custGeom>
              <a:avLst/>
              <a:gdLst/>
              <a:ahLst/>
              <a:cxnLst/>
              <a:rect l="l" t="t" r="r" b="b"/>
              <a:pathLst>
                <a:path w="6162" h="6139" fill="none" extrusionOk="0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2"/>
          <p:cNvSpPr/>
          <p:nvPr/>
        </p:nvSpPr>
        <p:spPr>
          <a:xfrm rot="10800000" flipH="1">
            <a:off x="5010533" y="4576648"/>
            <a:ext cx="1032900" cy="894600"/>
          </a:xfrm>
          <a:prstGeom prst="hexagon">
            <a:avLst>
              <a:gd name="adj" fmla="val 28678"/>
              <a:gd name="vf" fmla="val 115470"/>
            </a:avLst>
          </a:prstGeom>
          <a:noFill/>
          <a:ln w="19050" cap="flat" cmpd="sng">
            <a:solidFill>
              <a:srgbClr val="1847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"/>
          <p:cNvSpPr/>
          <p:nvPr/>
        </p:nvSpPr>
        <p:spPr>
          <a:xfrm rot="10800000" flipH="1">
            <a:off x="5133679" y="4056450"/>
            <a:ext cx="540000" cy="4674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"/>
          <p:cNvSpPr/>
          <p:nvPr/>
        </p:nvSpPr>
        <p:spPr>
          <a:xfrm rot="10800000" flipH="1">
            <a:off x="3101709" y="3629719"/>
            <a:ext cx="1032900" cy="8940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 rot="10800000" flipH="1">
            <a:off x="3530384" y="4576662"/>
            <a:ext cx="452100" cy="391200"/>
          </a:xfrm>
          <a:prstGeom prst="hexagon">
            <a:avLst>
              <a:gd name="adj" fmla="val 28678"/>
              <a:gd name="vf" fmla="val 115470"/>
            </a:avLst>
          </a:prstGeom>
          <a:noFill/>
          <a:ln w="19050" cap="flat" cmpd="sng">
            <a:solidFill>
              <a:srgbClr val="00E1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5370705" y="4867761"/>
            <a:ext cx="312503" cy="312484"/>
          </a:xfrm>
          <a:custGeom>
            <a:avLst/>
            <a:gdLst/>
            <a:ahLst/>
            <a:cxnLst/>
            <a:rect l="l" t="t" r="r" b="b"/>
            <a:pathLst>
              <a:path w="17000" h="16999" extrusionOk="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" name="Google Shape;40;p2"/>
          <p:cNvGrpSpPr/>
          <p:nvPr/>
        </p:nvGrpSpPr>
        <p:grpSpPr>
          <a:xfrm>
            <a:off x="5772009" y="4056440"/>
            <a:ext cx="573943" cy="550550"/>
            <a:chOff x="5241175" y="4959100"/>
            <a:chExt cx="539775" cy="517775"/>
          </a:xfrm>
        </p:grpSpPr>
        <p:sp>
          <p:nvSpPr>
            <p:cNvPr id="41" name="Google Shape;41;p2"/>
            <p:cNvSpPr/>
            <p:nvPr/>
          </p:nvSpPr>
          <p:spPr>
            <a:xfrm>
              <a:off x="5575150" y="4959100"/>
              <a:ext cx="161225" cy="178300"/>
            </a:xfrm>
            <a:custGeom>
              <a:avLst/>
              <a:gdLst/>
              <a:ahLst/>
              <a:cxnLst/>
              <a:rect l="l" t="t" r="r" b="b"/>
              <a:pathLst>
                <a:path w="6449" h="7132" extrusionOk="0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30925" y="4985350"/>
              <a:ext cx="128250" cy="148400"/>
            </a:xfrm>
            <a:custGeom>
              <a:avLst/>
              <a:gdLst/>
              <a:ahLst/>
              <a:cxnLst/>
              <a:rect l="l" t="t" r="r" b="b"/>
              <a:pathLst>
                <a:path w="5130" h="5936" extrusionOk="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5241175" y="5241175"/>
              <a:ext cx="180125" cy="109325"/>
            </a:xfrm>
            <a:custGeom>
              <a:avLst/>
              <a:gdLst/>
              <a:ahLst/>
              <a:cxnLst/>
              <a:rect l="l" t="t" r="r" b="b"/>
              <a:pathLst>
                <a:path w="7205" h="4373" extrusionOk="0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461575" y="5316900"/>
              <a:ext cx="89175" cy="159975"/>
            </a:xfrm>
            <a:custGeom>
              <a:avLst/>
              <a:gdLst/>
              <a:ahLst/>
              <a:cxnLst/>
              <a:rect l="l" t="t" r="r" b="b"/>
              <a:pathLst>
                <a:path w="3567" h="6399" extrusionOk="0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619100" y="5194175"/>
              <a:ext cx="161850" cy="89775"/>
            </a:xfrm>
            <a:custGeom>
              <a:avLst/>
              <a:gdLst/>
              <a:ahLst/>
              <a:cxnLst/>
              <a:rect l="l" t="t" r="r" b="b"/>
              <a:pathLst>
                <a:path w="6474" h="3591" extrusionOk="0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420075" y="5116000"/>
              <a:ext cx="189300" cy="189925"/>
            </a:xfrm>
            <a:custGeom>
              <a:avLst/>
              <a:gdLst/>
              <a:ahLst/>
              <a:cxnLst/>
              <a:rect l="l" t="t" r="r" b="b"/>
              <a:pathLst>
                <a:path w="7572" h="7597" extrusionOk="0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2"/>
          <p:cNvSpPr/>
          <p:nvPr/>
        </p:nvSpPr>
        <p:spPr>
          <a:xfrm>
            <a:off x="3429208" y="3904791"/>
            <a:ext cx="377839" cy="343685"/>
          </a:xfrm>
          <a:custGeom>
            <a:avLst/>
            <a:gdLst/>
            <a:ahLst/>
            <a:cxnLst/>
            <a:rect l="l" t="t" r="r" b="b"/>
            <a:pathLst>
              <a:path w="16218" h="14752" extrusionOk="0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/>
          <p:nvPr/>
        </p:nvSpPr>
        <p:spPr>
          <a:xfrm rot="10800000" flipH="1">
            <a:off x="-94969" y="303826"/>
            <a:ext cx="1034700" cy="895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30000" y="0"/>
                </a:moveTo>
                <a:lnTo>
                  <a:pt x="0" y="59994"/>
                </a:lnTo>
                <a:lnTo>
                  <a:pt x="30000" y="120000"/>
                </a:lnTo>
                <a:lnTo>
                  <a:pt x="90000" y="120000"/>
                </a:lnTo>
                <a:lnTo>
                  <a:pt x="120000" y="59994"/>
                </a:lnTo>
                <a:lnTo>
                  <a:pt x="90000" y="0"/>
                </a:lnTo>
                <a:lnTo>
                  <a:pt x="30000" y="0"/>
                </a:lnTo>
                <a:close/>
                <a:moveTo>
                  <a:pt x="38477" y="16950"/>
                </a:moveTo>
                <a:lnTo>
                  <a:pt x="81522" y="16950"/>
                </a:lnTo>
                <a:lnTo>
                  <a:pt x="103033" y="59994"/>
                </a:lnTo>
                <a:lnTo>
                  <a:pt x="81522" y="103038"/>
                </a:lnTo>
                <a:lnTo>
                  <a:pt x="38477" y="103038"/>
                </a:lnTo>
                <a:lnTo>
                  <a:pt x="16955" y="59994"/>
                </a:lnTo>
                <a:lnTo>
                  <a:pt x="38477" y="1695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lin ang="6983783" scaled="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" name="Google Shape;50;p3"/>
          <p:cNvSpPr/>
          <p:nvPr/>
        </p:nvSpPr>
        <p:spPr>
          <a:xfrm rot="5400000">
            <a:off x="559400" y="1538825"/>
            <a:ext cx="1788000" cy="2064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lnTo>
                  <a:pt x="120000" y="30000"/>
                </a:lnTo>
                <a:lnTo>
                  <a:pt x="120000" y="90000"/>
                </a:lnTo>
                <a:lnTo>
                  <a:pt x="60000" y="120000"/>
                </a:lnTo>
                <a:lnTo>
                  <a:pt x="0" y="90000"/>
                </a:lnTo>
                <a:lnTo>
                  <a:pt x="0" y="3000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" name="Google Shape;51;p3"/>
          <p:cNvSpPr txBox="1">
            <a:spLocks noGrp="1"/>
          </p:cNvSpPr>
          <p:nvPr>
            <p:ph type="ctrTitle"/>
          </p:nvPr>
        </p:nvSpPr>
        <p:spPr>
          <a:xfrm>
            <a:off x="2743200" y="1735750"/>
            <a:ext cx="56388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2" name="Google Shape;52;p3"/>
          <p:cNvSpPr txBox="1">
            <a:spLocks noGrp="1"/>
          </p:cNvSpPr>
          <p:nvPr>
            <p:ph type="subTitle" idx="1"/>
          </p:nvPr>
        </p:nvSpPr>
        <p:spPr>
          <a:xfrm>
            <a:off x="2743200" y="2821004"/>
            <a:ext cx="56961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"/>
          <p:cNvSpPr/>
          <p:nvPr/>
        </p:nvSpPr>
        <p:spPr>
          <a:xfrm rot="10800000" flipH="1">
            <a:off x="66674" y="3135425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9525" cap="flat" cmpd="sng">
            <a:solidFill>
              <a:srgbClr val="19BB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"/>
          <p:cNvSpPr/>
          <p:nvPr/>
        </p:nvSpPr>
        <p:spPr>
          <a:xfrm rot="10800000" flipH="1">
            <a:off x="828675" y="3516550"/>
            <a:ext cx="428700" cy="3711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3"/>
          <p:cNvSpPr/>
          <p:nvPr/>
        </p:nvSpPr>
        <p:spPr>
          <a:xfrm rot="10800000" flipH="1">
            <a:off x="761999" y="877950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76200" cap="flat" cmpd="sng">
            <a:solidFill>
              <a:srgbClr val="18476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3"/>
          <p:cNvSpPr/>
          <p:nvPr/>
        </p:nvSpPr>
        <p:spPr>
          <a:xfrm rot="10800000" flipH="1">
            <a:off x="793851" y="4692801"/>
            <a:ext cx="517500" cy="4479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00E1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" name="Google Shape;57;p3"/>
          <p:cNvGrpSpPr/>
          <p:nvPr/>
        </p:nvGrpSpPr>
        <p:grpSpPr>
          <a:xfrm>
            <a:off x="996359" y="1070668"/>
            <a:ext cx="351204" cy="324661"/>
            <a:chOff x="5975075" y="2327500"/>
            <a:chExt cx="420100" cy="388350"/>
          </a:xfrm>
        </p:grpSpPr>
        <p:sp>
          <p:nvSpPr>
            <p:cNvPr id="58" name="Google Shape;58;p3"/>
            <p:cNvSpPr/>
            <p:nvPr/>
          </p:nvSpPr>
          <p:spPr>
            <a:xfrm>
              <a:off x="5975075" y="2474650"/>
              <a:ext cx="98325" cy="220450"/>
            </a:xfrm>
            <a:custGeom>
              <a:avLst/>
              <a:gdLst/>
              <a:ahLst/>
              <a:cxnLst/>
              <a:rect l="l" t="t" r="r" b="b"/>
              <a:pathLst>
                <a:path w="3933" h="8818" extrusionOk="0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6088025" y="2327500"/>
              <a:ext cx="307150" cy="388350"/>
            </a:xfrm>
            <a:custGeom>
              <a:avLst/>
              <a:gdLst/>
              <a:ahLst/>
              <a:cxnLst/>
              <a:rect l="l" t="t" r="r" b="b"/>
              <a:pathLst>
                <a:path w="12286" h="15534" extrusionOk="0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3"/>
          <p:cNvSpPr/>
          <p:nvPr/>
        </p:nvSpPr>
        <p:spPr>
          <a:xfrm>
            <a:off x="393600" y="3346627"/>
            <a:ext cx="166061" cy="287704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19B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oogle Shape;61;p3"/>
          <p:cNvGrpSpPr/>
          <p:nvPr/>
        </p:nvGrpSpPr>
        <p:grpSpPr>
          <a:xfrm>
            <a:off x="305253" y="553856"/>
            <a:ext cx="247469" cy="392302"/>
            <a:chOff x="6718575" y="2318625"/>
            <a:chExt cx="256950" cy="407375"/>
          </a:xfrm>
        </p:grpSpPr>
        <p:sp>
          <p:nvSpPr>
            <p:cNvPr id="62" name="Google Shape;62;p3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l" t="t" r="r" b="b"/>
              <a:pathLst>
                <a:path w="4092" h="1195" fill="none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l" t="t" r="r" b="b"/>
              <a:pathLst>
                <a:path w="10278" h="12301" fill="none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l" t="t" r="r" b="b"/>
              <a:pathLst>
                <a:path w="3606" h="780" fill="none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l" t="t" r="r" b="b"/>
              <a:pathLst>
                <a:path w="4092" h="1" fill="none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" name="Google Shape;70;p3"/>
          <p:cNvGrpSpPr/>
          <p:nvPr/>
        </p:nvGrpSpPr>
        <p:grpSpPr>
          <a:xfrm>
            <a:off x="1419984" y="3634331"/>
            <a:ext cx="342882" cy="350068"/>
            <a:chOff x="3951850" y="2985350"/>
            <a:chExt cx="407950" cy="416500"/>
          </a:xfrm>
        </p:grpSpPr>
        <p:sp>
          <p:nvSpPr>
            <p:cNvPr id="71" name="Google Shape;71;p3"/>
            <p:cNvSpPr/>
            <p:nvPr/>
          </p:nvSpPr>
          <p:spPr>
            <a:xfrm>
              <a:off x="3951850" y="2985350"/>
              <a:ext cx="314800" cy="314825"/>
            </a:xfrm>
            <a:custGeom>
              <a:avLst/>
              <a:gdLst/>
              <a:ahLst/>
              <a:cxnLst/>
              <a:rect l="l" t="t" r="r" b="b"/>
              <a:pathLst>
                <a:path w="12592" h="12593" fill="none" extrusionOk="0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3988375" y="3021875"/>
              <a:ext cx="241750" cy="241750"/>
            </a:xfrm>
            <a:custGeom>
              <a:avLst/>
              <a:gdLst/>
              <a:ahLst/>
              <a:cxnLst/>
              <a:rect l="l" t="t" r="r" b="b"/>
              <a:pathLst>
                <a:path w="9670" h="9670" fill="none" extrusionOk="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4024300" y="3058425"/>
              <a:ext cx="84650" cy="84650"/>
            </a:xfrm>
            <a:custGeom>
              <a:avLst/>
              <a:gdLst/>
              <a:ahLst/>
              <a:cxnLst/>
              <a:rect l="l" t="t" r="r" b="b"/>
              <a:pathLst>
                <a:path w="3386" h="3386" fill="none" extrusionOk="0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4205750" y="3248375"/>
              <a:ext cx="154050" cy="153475"/>
            </a:xfrm>
            <a:custGeom>
              <a:avLst/>
              <a:gdLst/>
              <a:ahLst/>
              <a:cxnLst/>
              <a:rect l="l" t="t" r="r" b="b"/>
              <a:pathLst>
                <a:path w="6162" h="6139" fill="none" extrusionOk="0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" name="Google Shape;75;p3"/>
          <p:cNvSpPr/>
          <p:nvPr/>
        </p:nvSpPr>
        <p:spPr>
          <a:xfrm rot="10800000" flipH="1">
            <a:off x="733424" y="3936025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9525" cap="flat" cmpd="sng">
            <a:solidFill>
              <a:srgbClr val="1847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"/>
          <p:cNvSpPr/>
          <p:nvPr/>
        </p:nvSpPr>
        <p:spPr>
          <a:xfrm rot="10800000" flipH="1">
            <a:off x="738525" y="100850"/>
            <a:ext cx="428700" cy="3711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3"/>
          <p:cNvSpPr/>
          <p:nvPr/>
        </p:nvSpPr>
        <p:spPr>
          <a:xfrm rot="10800000" flipH="1">
            <a:off x="-291325" y="4148475"/>
            <a:ext cx="1182300" cy="10236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3"/>
          <p:cNvSpPr/>
          <p:nvPr/>
        </p:nvSpPr>
        <p:spPr>
          <a:xfrm rot="10800000" flipH="1">
            <a:off x="420725" y="-65225"/>
            <a:ext cx="358800" cy="310500"/>
          </a:xfrm>
          <a:prstGeom prst="hexagon">
            <a:avLst>
              <a:gd name="adj" fmla="val 28678"/>
              <a:gd name="vf" fmla="val 115470"/>
            </a:avLst>
          </a:prstGeom>
          <a:noFill/>
          <a:ln w="19050" cap="flat" cmpd="sng">
            <a:solidFill>
              <a:srgbClr val="00E1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1019338" y="4167058"/>
            <a:ext cx="248073" cy="248058"/>
          </a:xfrm>
          <a:custGeom>
            <a:avLst/>
            <a:gdLst/>
            <a:ahLst/>
            <a:cxnLst/>
            <a:rect l="l" t="t" r="r" b="b"/>
            <a:pathLst>
              <a:path w="17000" h="16999" extrusionOk="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" name="Google Shape;80;p3"/>
          <p:cNvGrpSpPr/>
          <p:nvPr/>
        </p:nvGrpSpPr>
        <p:grpSpPr>
          <a:xfrm>
            <a:off x="-50285" y="1452794"/>
            <a:ext cx="624844" cy="599376"/>
            <a:chOff x="5241175" y="4959100"/>
            <a:chExt cx="539775" cy="517775"/>
          </a:xfrm>
        </p:grpSpPr>
        <p:sp>
          <p:nvSpPr>
            <p:cNvPr id="81" name="Google Shape;81;p3"/>
            <p:cNvSpPr/>
            <p:nvPr/>
          </p:nvSpPr>
          <p:spPr>
            <a:xfrm>
              <a:off x="5575150" y="4959100"/>
              <a:ext cx="161225" cy="178300"/>
            </a:xfrm>
            <a:custGeom>
              <a:avLst/>
              <a:gdLst/>
              <a:ahLst/>
              <a:cxnLst/>
              <a:rect l="l" t="t" r="r" b="b"/>
              <a:pathLst>
                <a:path w="6449" h="7132" extrusionOk="0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5330925" y="4985350"/>
              <a:ext cx="128250" cy="148400"/>
            </a:xfrm>
            <a:custGeom>
              <a:avLst/>
              <a:gdLst/>
              <a:ahLst/>
              <a:cxnLst/>
              <a:rect l="l" t="t" r="r" b="b"/>
              <a:pathLst>
                <a:path w="5130" h="5936" extrusionOk="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5241175" y="5241175"/>
              <a:ext cx="180125" cy="109325"/>
            </a:xfrm>
            <a:custGeom>
              <a:avLst/>
              <a:gdLst/>
              <a:ahLst/>
              <a:cxnLst/>
              <a:rect l="l" t="t" r="r" b="b"/>
              <a:pathLst>
                <a:path w="7205" h="4373" extrusionOk="0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5461575" y="5316900"/>
              <a:ext cx="89175" cy="159975"/>
            </a:xfrm>
            <a:custGeom>
              <a:avLst/>
              <a:gdLst/>
              <a:ahLst/>
              <a:cxnLst/>
              <a:rect l="l" t="t" r="r" b="b"/>
              <a:pathLst>
                <a:path w="3567" h="6399" extrusionOk="0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5619100" y="5194175"/>
              <a:ext cx="161850" cy="89775"/>
            </a:xfrm>
            <a:custGeom>
              <a:avLst/>
              <a:gdLst/>
              <a:ahLst/>
              <a:cxnLst/>
              <a:rect l="l" t="t" r="r" b="b"/>
              <a:pathLst>
                <a:path w="6474" h="3591" extrusionOk="0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5420075" y="5116000"/>
              <a:ext cx="189300" cy="189925"/>
            </a:xfrm>
            <a:custGeom>
              <a:avLst/>
              <a:gdLst/>
              <a:ahLst/>
              <a:cxnLst/>
              <a:rect l="l" t="t" r="r" b="b"/>
              <a:pathLst>
                <a:path w="7572" h="7597" extrusionOk="0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" name="Google Shape;87;p3"/>
          <p:cNvSpPr/>
          <p:nvPr/>
        </p:nvSpPr>
        <p:spPr>
          <a:xfrm>
            <a:off x="47199" y="4430470"/>
            <a:ext cx="505231" cy="459562"/>
          </a:xfrm>
          <a:custGeom>
            <a:avLst/>
            <a:gdLst/>
            <a:ahLst/>
            <a:cxnLst/>
            <a:rect l="l" t="t" r="r" b="b"/>
            <a:pathLst>
              <a:path w="16218" h="14752" extrusionOk="0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/>
          <p:nvPr/>
        </p:nvSpPr>
        <p:spPr>
          <a:xfrm rot="10800000" flipH="1">
            <a:off x="-94969" y="619169"/>
            <a:ext cx="1034700" cy="895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30000" y="0"/>
                </a:moveTo>
                <a:lnTo>
                  <a:pt x="0" y="59994"/>
                </a:lnTo>
                <a:lnTo>
                  <a:pt x="30000" y="120000"/>
                </a:lnTo>
                <a:lnTo>
                  <a:pt x="90000" y="120000"/>
                </a:lnTo>
                <a:lnTo>
                  <a:pt x="120000" y="59994"/>
                </a:lnTo>
                <a:lnTo>
                  <a:pt x="90000" y="0"/>
                </a:lnTo>
                <a:lnTo>
                  <a:pt x="30000" y="0"/>
                </a:lnTo>
                <a:close/>
                <a:moveTo>
                  <a:pt x="38477" y="16950"/>
                </a:moveTo>
                <a:lnTo>
                  <a:pt x="81522" y="16950"/>
                </a:lnTo>
                <a:lnTo>
                  <a:pt x="103033" y="59994"/>
                </a:lnTo>
                <a:lnTo>
                  <a:pt x="81522" y="103038"/>
                </a:lnTo>
                <a:lnTo>
                  <a:pt x="38477" y="103038"/>
                </a:lnTo>
                <a:lnTo>
                  <a:pt x="16955" y="59994"/>
                </a:lnTo>
                <a:lnTo>
                  <a:pt x="38477" y="1695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lin ang="6983783" scaled="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" name="Google Shape;90;p4"/>
          <p:cNvSpPr/>
          <p:nvPr/>
        </p:nvSpPr>
        <p:spPr>
          <a:xfrm rot="5400000">
            <a:off x="499599" y="1905237"/>
            <a:ext cx="1146000" cy="132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lnTo>
                  <a:pt x="120000" y="30000"/>
                </a:lnTo>
                <a:lnTo>
                  <a:pt x="120000" y="90000"/>
                </a:lnTo>
                <a:lnTo>
                  <a:pt x="60000" y="120000"/>
                </a:lnTo>
                <a:lnTo>
                  <a:pt x="0" y="90000"/>
                </a:lnTo>
                <a:lnTo>
                  <a:pt x="0" y="3000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" name="Google Shape;91;p4"/>
          <p:cNvSpPr txBox="1">
            <a:spLocks noGrp="1"/>
          </p:cNvSpPr>
          <p:nvPr>
            <p:ph type="body" idx="1"/>
          </p:nvPr>
        </p:nvSpPr>
        <p:spPr>
          <a:xfrm>
            <a:off x="2051200" y="2085600"/>
            <a:ext cx="6282300" cy="8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 rtl="0">
              <a:spcBef>
                <a:spcPts val="600"/>
              </a:spcBef>
              <a:spcAft>
                <a:spcPts val="0"/>
              </a:spcAft>
              <a:buSzPts val="2400"/>
              <a:buFont typeface="Nixie One"/>
              <a:buChar char="◇"/>
              <a:defRPr sz="2400">
                <a:latin typeface="Nixie One"/>
                <a:ea typeface="Nixie One"/>
                <a:cs typeface="Nixie One"/>
                <a:sym typeface="Nixie One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Nixie One"/>
              <a:buChar char="￭"/>
              <a:defRPr sz="2400">
                <a:latin typeface="Nixie One"/>
                <a:ea typeface="Nixie One"/>
                <a:cs typeface="Nixie One"/>
                <a:sym typeface="Nixie One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Nixie One"/>
              <a:buChar char="￮"/>
              <a:defRPr sz="2400">
                <a:latin typeface="Nixie One"/>
                <a:ea typeface="Nixie One"/>
                <a:cs typeface="Nixie One"/>
                <a:sym typeface="Nixie One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Nixie One"/>
              <a:buChar char="●"/>
              <a:defRPr sz="2400">
                <a:latin typeface="Nixie One"/>
                <a:ea typeface="Nixie One"/>
                <a:cs typeface="Nixie One"/>
                <a:sym typeface="Nixie One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Nixie One"/>
              <a:buChar char="○"/>
              <a:defRPr sz="2400">
                <a:latin typeface="Nixie One"/>
                <a:ea typeface="Nixie One"/>
                <a:cs typeface="Nixie One"/>
                <a:sym typeface="Nixie One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Nixie One"/>
              <a:buChar char="■"/>
              <a:defRPr sz="2400">
                <a:latin typeface="Nixie One"/>
                <a:ea typeface="Nixie One"/>
                <a:cs typeface="Nixie One"/>
                <a:sym typeface="Nixie One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Nixie One"/>
              <a:buChar char="●"/>
              <a:defRPr sz="2400">
                <a:latin typeface="Nixie One"/>
                <a:ea typeface="Nixie One"/>
                <a:cs typeface="Nixie One"/>
                <a:sym typeface="Nixie One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Nixie One"/>
              <a:buChar char="○"/>
              <a:defRPr sz="2400">
                <a:latin typeface="Nixie One"/>
                <a:ea typeface="Nixie One"/>
                <a:cs typeface="Nixie One"/>
                <a:sym typeface="Nixie One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Font typeface="Nixie One"/>
              <a:buChar char="■"/>
              <a:defRPr sz="2400"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endParaRPr/>
          </a:p>
        </p:txBody>
      </p:sp>
      <p:sp>
        <p:nvSpPr>
          <p:cNvPr id="92" name="Google Shape;92;p4"/>
          <p:cNvSpPr/>
          <p:nvPr/>
        </p:nvSpPr>
        <p:spPr>
          <a:xfrm rot="10800000" flipH="1">
            <a:off x="-123826" y="2811575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9525" cap="flat" cmpd="sng">
            <a:solidFill>
              <a:srgbClr val="19BB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4"/>
          <p:cNvSpPr/>
          <p:nvPr/>
        </p:nvSpPr>
        <p:spPr>
          <a:xfrm rot="10800000" flipH="1">
            <a:off x="638175" y="3192700"/>
            <a:ext cx="428700" cy="3711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4"/>
          <p:cNvSpPr/>
          <p:nvPr/>
        </p:nvSpPr>
        <p:spPr>
          <a:xfrm rot="10800000" flipH="1">
            <a:off x="752474" y="1201800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76200" cap="flat" cmpd="sng">
            <a:solidFill>
              <a:srgbClr val="18476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4"/>
          <p:cNvSpPr/>
          <p:nvPr/>
        </p:nvSpPr>
        <p:spPr>
          <a:xfrm rot="10800000" flipH="1">
            <a:off x="657225" y="4380175"/>
            <a:ext cx="358800" cy="3105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00E1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" name="Google Shape;96;p4"/>
          <p:cNvGrpSpPr/>
          <p:nvPr/>
        </p:nvGrpSpPr>
        <p:grpSpPr>
          <a:xfrm>
            <a:off x="986834" y="1394518"/>
            <a:ext cx="351204" cy="324661"/>
            <a:chOff x="5975075" y="2327500"/>
            <a:chExt cx="420100" cy="388350"/>
          </a:xfrm>
        </p:grpSpPr>
        <p:sp>
          <p:nvSpPr>
            <p:cNvPr id="97" name="Google Shape;97;p4"/>
            <p:cNvSpPr/>
            <p:nvPr/>
          </p:nvSpPr>
          <p:spPr>
            <a:xfrm>
              <a:off x="5975075" y="2474650"/>
              <a:ext cx="98325" cy="220450"/>
            </a:xfrm>
            <a:custGeom>
              <a:avLst/>
              <a:gdLst/>
              <a:ahLst/>
              <a:cxnLst/>
              <a:rect l="l" t="t" r="r" b="b"/>
              <a:pathLst>
                <a:path w="3933" h="8818" extrusionOk="0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4"/>
            <p:cNvSpPr/>
            <p:nvPr/>
          </p:nvSpPr>
          <p:spPr>
            <a:xfrm>
              <a:off x="6088025" y="2327500"/>
              <a:ext cx="307150" cy="388350"/>
            </a:xfrm>
            <a:custGeom>
              <a:avLst/>
              <a:gdLst/>
              <a:ahLst/>
              <a:cxnLst/>
              <a:rect l="l" t="t" r="r" b="b"/>
              <a:pathLst>
                <a:path w="12286" h="15534" extrusionOk="0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" name="Google Shape;99;p4"/>
          <p:cNvSpPr/>
          <p:nvPr/>
        </p:nvSpPr>
        <p:spPr>
          <a:xfrm>
            <a:off x="203100" y="3022777"/>
            <a:ext cx="166061" cy="287704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19B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" name="Google Shape;100;p4"/>
          <p:cNvGrpSpPr/>
          <p:nvPr/>
        </p:nvGrpSpPr>
        <p:grpSpPr>
          <a:xfrm>
            <a:off x="295728" y="877706"/>
            <a:ext cx="247469" cy="392302"/>
            <a:chOff x="6718575" y="2318625"/>
            <a:chExt cx="256950" cy="407375"/>
          </a:xfrm>
        </p:grpSpPr>
        <p:sp>
          <p:nvSpPr>
            <p:cNvPr id="101" name="Google Shape;101;p4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4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4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l" t="t" r="r" b="b"/>
              <a:pathLst>
                <a:path w="4092" h="1195" fill="none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4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4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l" t="t" r="r" b="b"/>
              <a:pathLst>
                <a:path w="10278" h="12301" fill="none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4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l" t="t" r="r" b="b"/>
              <a:pathLst>
                <a:path w="3606" h="780" fill="none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4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l" t="t" r="r" b="b"/>
              <a:pathLst>
                <a:path w="4092" h="1" fill="none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" name="Google Shape;109;p4"/>
          <p:cNvGrpSpPr/>
          <p:nvPr/>
        </p:nvGrpSpPr>
        <p:grpSpPr>
          <a:xfrm>
            <a:off x="1229484" y="3310481"/>
            <a:ext cx="342882" cy="350068"/>
            <a:chOff x="3951850" y="2985350"/>
            <a:chExt cx="407950" cy="416500"/>
          </a:xfrm>
        </p:grpSpPr>
        <p:sp>
          <p:nvSpPr>
            <p:cNvPr id="110" name="Google Shape;110;p4"/>
            <p:cNvSpPr/>
            <p:nvPr/>
          </p:nvSpPr>
          <p:spPr>
            <a:xfrm>
              <a:off x="3951850" y="2985350"/>
              <a:ext cx="314800" cy="314825"/>
            </a:xfrm>
            <a:custGeom>
              <a:avLst/>
              <a:gdLst/>
              <a:ahLst/>
              <a:cxnLst/>
              <a:rect l="l" t="t" r="r" b="b"/>
              <a:pathLst>
                <a:path w="12592" h="12593" fill="none" extrusionOk="0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3988375" y="3021875"/>
              <a:ext cx="241750" cy="241750"/>
            </a:xfrm>
            <a:custGeom>
              <a:avLst/>
              <a:gdLst/>
              <a:ahLst/>
              <a:cxnLst/>
              <a:rect l="l" t="t" r="r" b="b"/>
              <a:pathLst>
                <a:path w="9670" h="9670" fill="none" extrusionOk="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4024300" y="3058425"/>
              <a:ext cx="84650" cy="84650"/>
            </a:xfrm>
            <a:custGeom>
              <a:avLst/>
              <a:gdLst/>
              <a:ahLst/>
              <a:cxnLst/>
              <a:rect l="l" t="t" r="r" b="b"/>
              <a:pathLst>
                <a:path w="3386" h="3386" fill="none" extrusionOk="0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4205750" y="3248375"/>
              <a:ext cx="154050" cy="153475"/>
            </a:xfrm>
            <a:custGeom>
              <a:avLst/>
              <a:gdLst/>
              <a:ahLst/>
              <a:cxnLst/>
              <a:rect l="l" t="t" r="r" b="b"/>
              <a:pathLst>
                <a:path w="6162" h="6139" fill="none" extrusionOk="0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" name="Google Shape;114;p4"/>
          <p:cNvSpPr/>
          <p:nvPr/>
        </p:nvSpPr>
        <p:spPr>
          <a:xfrm rot="10800000" flipH="1">
            <a:off x="542924" y="3612175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9525" cap="flat" cmpd="sng">
            <a:solidFill>
              <a:srgbClr val="1847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"/>
          <p:cNvSpPr/>
          <p:nvPr/>
        </p:nvSpPr>
        <p:spPr>
          <a:xfrm rot="10800000" flipH="1">
            <a:off x="729000" y="424700"/>
            <a:ext cx="428700" cy="3711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"/>
          <p:cNvSpPr/>
          <p:nvPr/>
        </p:nvSpPr>
        <p:spPr>
          <a:xfrm rot="10800000" flipH="1">
            <a:off x="-115052" y="3996025"/>
            <a:ext cx="819900" cy="7098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"/>
          <p:cNvSpPr/>
          <p:nvPr/>
        </p:nvSpPr>
        <p:spPr>
          <a:xfrm rot="10800000" flipH="1">
            <a:off x="411200" y="258625"/>
            <a:ext cx="358800" cy="310500"/>
          </a:xfrm>
          <a:prstGeom prst="hexagon">
            <a:avLst>
              <a:gd name="adj" fmla="val 28678"/>
              <a:gd name="vf" fmla="val 115470"/>
            </a:avLst>
          </a:prstGeom>
          <a:noFill/>
          <a:ln w="19050" cap="flat" cmpd="sng">
            <a:solidFill>
              <a:srgbClr val="00E1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828838" y="3843208"/>
            <a:ext cx="248073" cy="248058"/>
          </a:xfrm>
          <a:custGeom>
            <a:avLst/>
            <a:gdLst/>
            <a:ahLst/>
            <a:cxnLst/>
            <a:rect l="l" t="t" r="r" b="b"/>
            <a:pathLst>
              <a:path w="17000" h="16999" extrusionOk="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" name="Google Shape;119;p4"/>
          <p:cNvGrpSpPr/>
          <p:nvPr/>
        </p:nvGrpSpPr>
        <p:grpSpPr>
          <a:xfrm>
            <a:off x="67092" y="1681690"/>
            <a:ext cx="455624" cy="437054"/>
            <a:chOff x="5241175" y="4959100"/>
            <a:chExt cx="539775" cy="517775"/>
          </a:xfrm>
        </p:grpSpPr>
        <p:sp>
          <p:nvSpPr>
            <p:cNvPr id="120" name="Google Shape;120;p4"/>
            <p:cNvSpPr/>
            <p:nvPr/>
          </p:nvSpPr>
          <p:spPr>
            <a:xfrm>
              <a:off x="5575150" y="4959100"/>
              <a:ext cx="161225" cy="178300"/>
            </a:xfrm>
            <a:custGeom>
              <a:avLst/>
              <a:gdLst/>
              <a:ahLst/>
              <a:cxnLst/>
              <a:rect l="l" t="t" r="r" b="b"/>
              <a:pathLst>
                <a:path w="6449" h="7132" extrusionOk="0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4"/>
            <p:cNvSpPr/>
            <p:nvPr/>
          </p:nvSpPr>
          <p:spPr>
            <a:xfrm>
              <a:off x="5330925" y="4985350"/>
              <a:ext cx="128250" cy="148400"/>
            </a:xfrm>
            <a:custGeom>
              <a:avLst/>
              <a:gdLst/>
              <a:ahLst/>
              <a:cxnLst/>
              <a:rect l="l" t="t" r="r" b="b"/>
              <a:pathLst>
                <a:path w="5130" h="5936" extrusionOk="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5241175" y="5241175"/>
              <a:ext cx="180125" cy="109325"/>
            </a:xfrm>
            <a:custGeom>
              <a:avLst/>
              <a:gdLst/>
              <a:ahLst/>
              <a:cxnLst/>
              <a:rect l="l" t="t" r="r" b="b"/>
              <a:pathLst>
                <a:path w="7205" h="4373" extrusionOk="0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4"/>
            <p:cNvSpPr/>
            <p:nvPr/>
          </p:nvSpPr>
          <p:spPr>
            <a:xfrm>
              <a:off x="5461575" y="5316900"/>
              <a:ext cx="89175" cy="159975"/>
            </a:xfrm>
            <a:custGeom>
              <a:avLst/>
              <a:gdLst/>
              <a:ahLst/>
              <a:cxnLst/>
              <a:rect l="l" t="t" r="r" b="b"/>
              <a:pathLst>
                <a:path w="3567" h="6399" extrusionOk="0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5619100" y="5194175"/>
              <a:ext cx="161850" cy="89775"/>
            </a:xfrm>
            <a:custGeom>
              <a:avLst/>
              <a:gdLst/>
              <a:ahLst/>
              <a:cxnLst/>
              <a:rect l="l" t="t" r="r" b="b"/>
              <a:pathLst>
                <a:path w="6474" h="3591" extrusionOk="0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4"/>
            <p:cNvSpPr/>
            <p:nvPr/>
          </p:nvSpPr>
          <p:spPr>
            <a:xfrm>
              <a:off x="5420075" y="5116000"/>
              <a:ext cx="189300" cy="189925"/>
            </a:xfrm>
            <a:custGeom>
              <a:avLst/>
              <a:gdLst/>
              <a:ahLst/>
              <a:cxnLst/>
              <a:rect l="l" t="t" r="r" b="b"/>
              <a:pathLst>
                <a:path w="7572" h="7597" extrusionOk="0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" name="Google Shape;126;p4"/>
          <p:cNvSpPr/>
          <p:nvPr/>
        </p:nvSpPr>
        <p:spPr>
          <a:xfrm>
            <a:off x="144926" y="4214500"/>
            <a:ext cx="299952" cy="272838"/>
          </a:xfrm>
          <a:custGeom>
            <a:avLst/>
            <a:gdLst/>
            <a:ahLst/>
            <a:cxnLst/>
            <a:rect l="l" t="t" r="r" b="b"/>
            <a:pathLst>
              <a:path w="16218" h="14752" extrusionOk="0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"/>
          <p:cNvSpPr txBox="1"/>
          <p:nvPr/>
        </p:nvSpPr>
        <p:spPr>
          <a:xfrm>
            <a:off x="94000" y="1929581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>
                <a:solidFill>
                  <a:srgbClr val="FFFFFF"/>
                </a:solidFill>
                <a:latin typeface="Nixie One"/>
                <a:ea typeface="Nixie One"/>
                <a:cs typeface="Nixie One"/>
                <a:sym typeface="Nixie One"/>
              </a:rPr>
              <a:t>“</a:t>
            </a:r>
            <a:endParaRPr sz="12000">
              <a:solidFill>
                <a:srgbClr val="FFFFFF"/>
              </a:solidFill>
              <a:latin typeface="Nixie One"/>
              <a:ea typeface="Nixie One"/>
              <a:cs typeface="Nixie One"/>
              <a:sym typeface="Nixie One"/>
            </a:endParaRPr>
          </a:p>
        </p:txBody>
      </p:sp>
      <p:sp>
        <p:nvSpPr>
          <p:cNvPr id="128" name="Google Shape;128;p4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latin typeface="Nixie One"/>
                <a:ea typeface="Nixie One"/>
                <a:cs typeface="Nixie One"/>
                <a:sym typeface="Nixie One"/>
              </a:defRPr>
            </a:lvl1pPr>
            <a:lvl2pPr lvl="1">
              <a:buNone/>
              <a:defRPr>
                <a:latin typeface="Nixie One"/>
                <a:ea typeface="Nixie One"/>
                <a:cs typeface="Nixie One"/>
                <a:sym typeface="Nixie One"/>
              </a:defRPr>
            </a:lvl2pPr>
            <a:lvl3pPr lvl="2">
              <a:buNone/>
              <a:defRPr>
                <a:latin typeface="Nixie One"/>
                <a:ea typeface="Nixie One"/>
                <a:cs typeface="Nixie One"/>
                <a:sym typeface="Nixie One"/>
              </a:defRPr>
            </a:lvl3pPr>
            <a:lvl4pPr lvl="3">
              <a:buNone/>
              <a:defRPr>
                <a:latin typeface="Nixie One"/>
                <a:ea typeface="Nixie One"/>
                <a:cs typeface="Nixie One"/>
                <a:sym typeface="Nixie One"/>
              </a:defRPr>
            </a:lvl4pPr>
            <a:lvl5pPr lvl="4">
              <a:buNone/>
              <a:defRPr>
                <a:latin typeface="Nixie One"/>
                <a:ea typeface="Nixie One"/>
                <a:cs typeface="Nixie One"/>
                <a:sym typeface="Nixie One"/>
              </a:defRPr>
            </a:lvl5pPr>
            <a:lvl6pPr lvl="5">
              <a:buNone/>
              <a:defRPr>
                <a:latin typeface="Nixie One"/>
                <a:ea typeface="Nixie One"/>
                <a:cs typeface="Nixie One"/>
                <a:sym typeface="Nixie One"/>
              </a:defRPr>
            </a:lvl6pPr>
            <a:lvl7pPr lvl="6">
              <a:buNone/>
              <a:defRPr>
                <a:latin typeface="Nixie One"/>
                <a:ea typeface="Nixie One"/>
                <a:cs typeface="Nixie One"/>
                <a:sym typeface="Nixie One"/>
              </a:defRPr>
            </a:lvl7pPr>
            <a:lvl8pPr lvl="7">
              <a:buNone/>
              <a:defRPr>
                <a:latin typeface="Nixie One"/>
                <a:ea typeface="Nixie One"/>
                <a:cs typeface="Nixie One"/>
                <a:sym typeface="Nixie One"/>
              </a:defRPr>
            </a:lvl8pPr>
            <a:lvl9pPr lvl="8">
              <a:buNone/>
              <a:defRPr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"/>
          <p:cNvSpPr/>
          <p:nvPr/>
        </p:nvSpPr>
        <p:spPr>
          <a:xfrm rot="5400000">
            <a:off x="499599" y="157100"/>
            <a:ext cx="1146000" cy="132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lnTo>
                  <a:pt x="120000" y="30000"/>
                </a:lnTo>
                <a:lnTo>
                  <a:pt x="120000" y="90000"/>
                </a:lnTo>
                <a:lnTo>
                  <a:pt x="60000" y="120000"/>
                </a:lnTo>
                <a:lnTo>
                  <a:pt x="0" y="90000"/>
                </a:lnTo>
                <a:lnTo>
                  <a:pt x="0" y="3000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4" name="Google Shape;214;p7"/>
          <p:cNvSpPr txBox="1">
            <a:spLocks noGrp="1"/>
          </p:cNvSpPr>
          <p:nvPr>
            <p:ph type="title"/>
          </p:nvPr>
        </p:nvSpPr>
        <p:spPr>
          <a:xfrm>
            <a:off x="1732700" y="1735600"/>
            <a:ext cx="4944300" cy="64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7"/>
          <p:cNvSpPr txBox="1">
            <a:spLocks noGrp="1"/>
          </p:cNvSpPr>
          <p:nvPr>
            <p:ph type="body" idx="1"/>
          </p:nvPr>
        </p:nvSpPr>
        <p:spPr>
          <a:xfrm>
            <a:off x="1732700" y="2380900"/>
            <a:ext cx="2176800" cy="25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SzPts val="1400"/>
              <a:buChar char="◇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￭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￮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6" name="Google Shape;216;p7"/>
          <p:cNvSpPr txBox="1">
            <a:spLocks noGrp="1"/>
          </p:cNvSpPr>
          <p:nvPr>
            <p:ph type="body" idx="2"/>
          </p:nvPr>
        </p:nvSpPr>
        <p:spPr>
          <a:xfrm>
            <a:off x="4020972" y="2380900"/>
            <a:ext cx="2176800" cy="25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SzPts val="1400"/>
              <a:buChar char="◇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￭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￮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7" name="Google Shape;217;p7"/>
          <p:cNvSpPr txBox="1">
            <a:spLocks noGrp="1"/>
          </p:cNvSpPr>
          <p:nvPr>
            <p:ph type="body" idx="3"/>
          </p:nvPr>
        </p:nvSpPr>
        <p:spPr>
          <a:xfrm>
            <a:off x="6309245" y="2380900"/>
            <a:ext cx="2176800" cy="25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SzPts val="1400"/>
              <a:buChar char="◇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￭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￮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8" name="Google Shape;218;p7"/>
          <p:cNvSpPr/>
          <p:nvPr/>
        </p:nvSpPr>
        <p:spPr>
          <a:xfrm rot="10800000" flipH="1">
            <a:off x="-123826" y="1058975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9525" cap="flat" cmpd="sng">
            <a:solidFill>
              <a:srgbClr val="19BB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7"/>
          <p:cNvSpPr/>
          <p:nvPr/>
        </p:nvSpPr>
        <p:spPr>
          <a:xfrm rot="10800000" flipH="1">
            <a:off x="638175" y="1440100"/>
            <a:ext cx="428700" cy="3711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7"/>
          <p:cNvSpPr/>
          <p:nvPr/>
        </p:nvSpPr>
        <p:spPr>
          <a:xfrm rot="10800000" flipH="1">
            <a:off x="1495424" y="-131650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76200" cap="flat" cmpd="sng">
            <a:solidFill>
              <a:srgbClr val="18476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7"/>
          <p:cNvSpPr/>
          <p:nvPr/>
        </p:nvSpPr>
        <p:spPr>
          <a:xfrm rot="10800000" flipH="1">
            <a:off x="327800" y="88925"/>
            <a:ext cx="358800" cy="3105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00E1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2" name="Google Shape;222;p7"/>
          <p:cNvGrpSpPr/>
          <p:nvPr/>
        </p:nvGrpSpPr>
        <p:grpSpPr>
          <a:xfrm>
            <a:off x="1729784" y="61068"/>
            <a:ext cx="351204" cy="324661"/>
            <a:chOff x="5975075" y="2327500"/>
            <a:chExt cx="420100" cy="388350"/>
          </a:xfrm>
        </p:grpSpPr>
        <p:sp>
          <p:nvSpPr>
            <p:cNvPr id="223" name="Google Shape;223;p7"/>
            <p:cNvSpPr/>
            <p:nvPr/>
          </p:nvSpPr>
          <p:spPr>
            <a:xfrm>
              <a:off x="5975075" y="2474650"/>
              <a:ext cx="98325" cy="220450"/>
            </a:xfrm>
            <a:custGeom>
              <a:avLst/>
              <a:gdLst/>
              <a:ahLst/>
              <a:cxnLst/>
              <a:rect l="l" t="t" r="r" b="b"/>
              <a:pathLst>
                <a:path w="3933" h="8818" extrusionOk="0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7"/>
            <p:cNvSpPr/>
            <p:nvPr/>
          </p:nvSpPr>
          <p:spPr>
            <a:xfrm>
              <a:off x="6088025" y="2327500"/>
              <a:ext cx="307150" cy="388350"/>
            </a:xfrm>
            <a:custGeom>
              <a:avLst/>
              <a:gdLst/>
              <a:ahLst/>
              <a:cxnLst/>
              <a:rect l="l" t="t" r="r" b="b"/>
              <a:pathLst>
                <a:path w="12286" h="15534" extrusionOk="0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5" name="Google Shape;225;p7"/>
          <p:cNvSpPr/>
          <p:nvPr/>
        </p:nvSpPr>
        <p:spPr>
          <a:xfrm>
            <a:off x="203100" y="1270177"/>
            <a:ext cx="166061" cy="287704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19B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6" name="Google Shape;226;p7"/>
          <p:cNvGrpSpPr/>
          <p:nvPr/>
        </p:nvGrpSpPr>
        <p:grpSpPr>
          <a:xfrm>
            <a:off x="904276" y="515192"/>
            <a:ext cx="382958" cy="607111"/>
            <a:chOff x="6718575" y="2318625"/>
            <a:chExt cx="256950" cy="407375"/>
          </a:xfrm>
        </p:grpSpPr>
        <p:sp>
          <p:nvSpPr>
            <p:cNvPr id="227" name="Google Shape;227;p7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7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7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l" t="t" r="r" b="b"/>
              <a:pathLst>
                <a:path w="4092" h="1195" fill="none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7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7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l" t="t" r="r" b="b"/>
              <a:pathLst>
                <a:path w="10278" h="12301" fill="none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7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7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l" t="t" r="r" b="b"/>
              <a:pathLst>
                <a:path w="3606" h="780" fill="none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7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l" t="t" r="r" b="b"/>
              <a:pathLst>
                <a:path w="4092" h="1" fill="none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5" name="Google Shape;235;p7"/>
          <p:cNvGrpSpPr/>
          <p:nvPr/>
        </p:nvGrpSpPr>
        <p:grpSpPr>
          <a:xfrm>
            <a:off x="335759" y="1840531"/>
            <a:ext cx="342882" cy="350068"/>
            <a:chOff x="3951850" y="2985350"/>
            <a:chExt cx="407950" cy="416500"/>
          </a:xfrm>
        </p:grpSpPr>
        <p:sp>
          <p:nvSpPr>
            <p:cNvPr id="236" name="Google Shape;236;p7"/>
            <p:cNvSpPr/>
            <p:nvPr/>
          </p:nvSpPr>
          <p:spPr>
            <a:xfrm>
              <a:off x="3951850" y="2985350"/>
              <a:ext cx="314800" cy="314825"/>
            </a:xfrm>
            <a:custGeom>
              <a:avLst/>
              <a:gdLst/>
              <a:ahLst/>
              <a:cxnLst/>
              <a:rect l="l" t="t" r="r" b="b"/>
              <a:pathLst>
                <a:path w="12592" h="12593" fill="none" extrusionOk="0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7"/>
            <p:cNvSpPr/>
            <p:nvPr/>
          </p:nvSpPr>
          <p:spPr>
            <a:xfrm>
              <a:off x="3988375" y="3021875"/>
              <a:ext cx="241750" cy="241750"/>
            </a:xfrm>
            <a:custGeom>
              <a:avLst/>
              <a:gdLst/>
              <a:ahLst/>
              <a:cxnLst/>
              <a:rect l="l" t="t" r="r" b="b"/>
              <a:pathLst>
                <a:path w="9670" h="9670" fill="none" extrusionOk="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7"/>
            <p:cNvSpPr/>
            <p:nvPr/>
          </p:nvSpPr>
          <p:spPr>
            <a:xfrm>
              <a:off x="4024300" y="3058425"/>
              <a:ext cx="84650" cy="84650"/>
            </a:xfrm>
            <a:custGeom>
              <a:avLst/>
              <a:gdLst/>
              <a:ahLst/>
              <a:cxnLst/>
              <a:rect l="l" t="t" r="r" b="b"/>
              <a:pathLst>
                <a:path w="3386" h="3386" fill="none" extrusionOk="0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7"/>
            <p:cNvSpPr/>
            <p:nvPr/>
          </p:nvSpPr>
          <p:spPr>
            <a:xfrm>
              <a:off x="4205750" y="3248375"/>
              <a:ext cx="154050" cy="153475"/>
            </a:xfrm>
            <a:custGeom>
              <a:avLst/>
              <a:gdLst/>
              <a:ahLst/>
              <a:cxnLst/>
              <a:rect l="l" t="t" r="r" b="b"/>
              <a:pathLst>
                <a:path w="6162" h="6139" fill="none" extrusionOk="0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0" name="Google Shape;240;p7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"/>
          <p:cNvSpPr/>
          <p:nvPr/>
        </p:nvSpPr>
        <p:spPr>
          <a:xfrm rot="10800000" flipH="1">
            <a:off x="7663675" y="3684808"/>
            <a:ext cx="1034700" cy="895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30000" y="0"/>
                </a:moveTo>
                <a:lnTo>
                  <a:pt x="0" y="59994"/>
                </a:lnTo>
                <a:lnTo>
                  <a:pt x="30000" y="120000"/>
                </a:lnTo>
                <a:lnTo>
                  <a:pt x="90000" y="120000"/>
                </a:lnTo>
                <a:lnTo>
                  <a:pt x="120000" y="59994"/>
                </a:lnTo>
                <a:lnTo>
                  <a:pt x="90000" y="0"/>
                </a:lnTo>
                <a:lnTo>
                  <a:pt x="30000" y="0"/>
                </a:lnTo>
                <a:close/>
                <a:moveTo>
                  <a:pt x="38477" y="16950"/>
                </a:moveTo>
                <a:lnTo>
                  <a:pt x="81522" y="16950"/>
                </a:lnTo>
                <a:lnTo>
                  <a:pt x="103033" y="59994"/>
                </a:lnTo>
                <a:lnTo>
                  <a:pt x="81522" y="103038"/>
                </a:lnTo>
                <a:lnTo>
                  <a:pt x="38477" y="103038"/>
                </a:lnTo>
                <a:lnTo>
                  <a:pt x="16955" y="59994"/>
                </a:lnTo>
                <a:lnTo>
                  <a:pt x="38477" y="1695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lin ang="6983783" scaled="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3" name="Google Shape;243;p8"/>
          <p:cNvSpPr/>
          <p:nvPr/>
        </p:nvSpPr>
        <p:spPr>
          <a:xfrm rot="5400000">
            <a:off x="499599" y="157100"/>
            <a:ext cx="1146000" cy="132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lnTo>
                  <a:pt x="120000" y="30000"/>
                </a:lnTo>
                <a:lnTo>
                  <a:pt x="120000" y="90000"/>
                </a:lnTo>
                <a:lnTo>
                  <a:pt x="60000" y="120000"/>
                </a:lnTo>
                <a:lnTo>
                  <a:pt x="0" y="90000"/>
                </a:lnTo>
                <a:lnTo>
                  <a:pt x="0" y="3000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4" name="Google Shape;244;p8"/>
          <p:cNvSpPr txBox="1">
            <a:spLocks noGrp="1"/>
          </p:cNvSpPr>
          <p:nvPr>
            <p:ph type="title"/>
          </p:nvPr>
        </p:nvSpPr>
        <p:spPr>
          <a:xfrm>
            <a:off x="1732700" y="821200"/>
            <a:ext cx="4944300" cy="64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8"/>
          <p:cNvSpPr/>
          <p:nvPr/>
        </p:nvSpPr>
        <p:spPr>
          <a:xfrm rot="10800000" flipH="1">
            <a:off x="-123826" y="1058975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9525" cap="flat" cmpd="sng">
            <a:solidFill>
              <a:srgbClr val="19BB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8"/>
          <p:cNvSpPr/>
          <p:nvPr/>
        </p:nvSpPr>
        <p:spPr>
          <a:xfrm rot="10800000" flipH="1">
            <a:off x="638175" y="1440100"/>
            <a:ext cx="428700" cy="3711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8"/>
          <p:cNvSpPr/>
          <p:nvPr/>
        </p:nvSpPr>
        <p:spPr>
          <a:xfrm rot="10800000" flipH="1">
            <a:off x="1495424" y="-131650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76200" cap="flat" cmpd="sng">
            <a:solidFill>
              <a:srgbClr val="18476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8"/>
          <p:cNvSpPr/>
          <p:nvPr/>
        </p:nvSpPr>
        <p:spPr>
          <a:xfrm rot="10800000" flipH="1">
            <a:off x="327800" y="88925"/>
            <a:ext cx="358800" cy="3105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00E1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9" name="Google Shape;249;p8"/>
          <p:cNvGrpSpPr/>
          <p:nvPr/>
        </p:nvGrpSpPr>
        <p:grpSpPr>
          <a:xfrm>
            <a:off x="1729784" y="61068"/>
            <a:ext cx="351204" cy="324661"/>
            <a:chOff x="5975075" y="2327500"/>
            <a:chExt cx="420100" cy="388350"/>
          </a:xfrm>
        </p:grpSpPr>
        <p:sp>
          <p:nvSpPr>
            <p:cNvPr id="250" name="Google Shape;250;p8"/>
            <p:cNvSpPr/>
            <p:nvPr/>
          </p:nvSpPr>
          <p:spPr>
            <a:xfrm>
              <a:off x="5975075" y="2474650"/>
              <a:ext cx="98325" cy="220450"/>
            </a:xfrm>
            <a:custGeom>
              <a:avLst/>
              <a:gdLst/>
              <a:ahLst/>
              <a:cxnLst/>
              <a:rect l="l" t="t" r="r" b="b"/>
              <a:pathLst>
                <a:path w="3933" h="8818" extrusionOk="0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8"/>
            <p:cNvSpPr/>
            <p:nvPr/>
          </p:nvSpPr>
          <p:spPr>
            <a:xfrm>
              <a:off x="6088025" y="2327500"/>
              <a:ext cx="307150" cy="388350"/>
            </a:xfrm>
            <a:custGeom>
              <a:avLst/>
              <a:gdLst/>
              <a:ahLst/>
              <a:cxnLst/>
              <a:rect l="l" t="t" r="r" b="b"/>
              <a:pathLst>
                <a:path w="12286" h="15534" extrusionOk="0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2" name="Google Shape;252;p8"/>
          <p:cNvSpPr/>
          <p:nvPr/>
        </p:nvSpPr>
        <p:spPr>
          <a:xfrm>
            <a:off x="203100" y="1270177"/>
            <a:ext cx="166061" cy="287704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19B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3" name="Google Shape;253;p8"/>
          <p:cNvGrpSpPr/>
          <p:nvPr/>
        </p:nvGrpSpPr>
        <p:grpSpPr>
          <a:xfrm>
            <a:off x="904276" y="515192"/>
            <a:ext cx="382958" cy="607111"/>
            <a:chOff x="6718575" y="2318625"/>
            <a:chExt cx="256950" cy="407375"/>
          </a:xfrm>
        </p:grpSpPr>
        <p:sp>
          <p:nvSpPr>
            <p:cNvPr id="254" name="Google Shape;254;p8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8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8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l" t="t" r="r" b="b"/>
              <a:pathLst>
                <a:path w="4092" h="1195" fill="none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8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8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l" t="t" r="r" b="b"/>
              <a:pathLst>
                <a:path w="10278" h="12301" fill="none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8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8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l" t="t" r="r" b="b"/>
              <a:pathLst>
                <a:path w="3606" h="780" fill="none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8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l" t="t" r="r" b="b"/>
              <a:pathLst>
                <a:path w="4092" h="1" fill="none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" name="Google Shape;262;p8"/>
          <p:cNvGrpSpPr/>
          <p:nvPr/>
        </p:nvGrpSpPr>
        <p:grpSpPr>
          <a:xfrm>
            <a:off x="335759" y="1840531"/>
            <a:ext cx="342882" cy="350068"/>
            <a:chOff x="3951850" y="2985350"/>
            <a:chExt cx="407950" cy="416500"/>
          </a:xfrm>
        </p:grpSpPr>
        <p:sp>
          <p:nvSpPr>
            <p:cNvPr id="263" name="Google Shape;263;p8"/>
            <p:cNvSpPr/>
            <p:nvPr/>
          </p:nvSpPr>
          <p:spPr>
            <a:xfrm>
              <a:off x="3951850" y="2985350"/>
              <a:ext cx="314800" cy="314825"/>
            </a:xfrm>
            <a:custGeom>
              <a:avLst/>
              <a:gdLst/>
              <a:ahLst/>
              <a:cxnLst/>
              <a:rect l="l" t="t" r="r" b="b"/>
              <a:pathLst>
                <a:path w="12592" h="12593" fill="none" extrusionOk="0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8"/>
            <p:cNvSpPr/>
            <p:nvPr/>
          </p:nvSpPr>
          <p:spPr>
            <a:xfrm>
              <a:off x="3988375" y="3021875"/>
              <a:ext cx="241750" cy="241750"/>
            </a:xfrm>
            <a:custGeom>
              <a:avLst/>
              <a:gdLst/>
              <a:ahLst/>
              <a:cxnLst/>
              <a:rect l="l" t="t" r="r" b="b"/>
              <a:pathLst>
                <a:path w="9670" h="9670" fill="none" extrusionOk="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8"/>
            <p:cNvSpPr/>
            <p:nvPr/>
          </p:nvSpPr>
          <p:spPr>
            <a:xfrm>
              <a:off x="4024300" y="3058425"/>
              <a:ext cx="84650" cy="84650"/>
            </a:xfrm>
            <a:custGeom>
              <a:avLst/>
              <a:gdLst/>
              <a:ahLst/>
              <a:cxnLst/>
              <a:rect l="l" t="t" r="r" b="b"/>
              <a:pathLst>
                <a:path w="3386" h="3386" fill="none" extrusionOk="0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8"/>
            <p:cNvSpPr/>
            <p:nvPr/>
          </p:nvSpPr>
          <p:spPr>
            <a:xfrm>
              <a:off x="4205750" y="3248375"/>
              <a:ext cx="154050" cy="153475"/>
            </a:xfrm>
            <a:custGeom>
              <a:avLst/>
              <a:gdLst/>
              <a:ahLst/>
              <a:cxnLst/>
              <a:rect l="l" t="t" r="r" b="b"/>
              <a:pathLst>
                <a:path w="6162" h="6139" fill="none" extrusionOk="0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7" name="Google Shape;267;p8"/>
          <p:cNvSpPr/>
          <p:nvPr/>
        </p:nvSpPr>
        <p:spPr>
          <a:xfrm rot="10800000" flipH="1">
            <a:off x="8486774" y="4230775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9525" cap="flat" cmpd="sng">
            <a:solidFill>
              <a:srgbClr val="1847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8"/>
          <p:cNvSpPr/>
          <p:nvPr/>
        </p:nvSpPr>
        <p:spPr>
          <a:xfrm rot="10800000" flipH="1">
            <a:off x="8124824" y="4615700"/>
            <a:ext cx="428700" cy="3711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8"/>
          <p:cNvSpPr/>
          <p:nvPr/>
        </p:nvSpPr>
        <p:spPr>
          <a:xfrm rot="10800000" flipH="1">
            <a:off x="7821348" y="2935400"/>
            <a:ext cx="819900" cy="7098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8"/>
          <p:cNvSpPr/>
          <p:nvPr/>
        </p:nvSpPr>
        <p:spPr>
          <a:xfrm rot="10800000" flipH="1">
            <a:off x="8486775" y="3512175"/>
            <a:ext cx="358800" cy="310500"/>
          </a:xfrm>
          <a:prstGeom prst="hexagon">
            <a:avLst>
              <a:gd name="adj" fmla="val 28678"/>
              <a:gd name="vf" fmla="val 115470"/>
            </a:avLst>
          </a:prstGeom>
          <a:noFill/>
          <a:ln w="19050" cap="flat" cmpd="sng">
            <a:solidFill>
              <a:srgbClr val="00E1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8"/>
          <p:cNvSpPr/>
          <p:nvPr/>
        </p:nvSpPr>
        <p:spPr>
          <a:xfrm>
            <a:off x="8772688" y="4461808"/>
            <a:ext cx="248073" cy="248058"/>
          </a:xfrm>
          <a:custGeom>
            <a:avLst/>
            <a:gdLst/>
            <a:ahLst/>
            <a:cxnLst/>
            <a:rect l="l" t="t" r="r" b="b"/>
            <a:pathLst>
              <a:path w="17000" h="16999" extrusionOk="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2" name="Google Shape;272;p8"/>
          <p:cNvGrpSpPr/>
          <p:nvPr/>
        </p:nvGrpSpPr>
        <p:grpSpPr>
          <a:xfrm>
            <a:off x="7354067" y="3426715"/>
            <a:ext cx="455624" cy="437054"/>
            <a:chOff x="5241175" y="4959100"/>
            <a:chExt cx="539775" cy="517775"/>
          </a:xfrm>
        </p:grpSpPr>
        <p:sp>
          <p:nvSpPr>
            <p:cNvPr id="273" name="Google Shape;273;p8"/>
            <p:cNvSpPr/>
            <p:nvPr/>
          </p:nvSpPr>
          <p:spPr>
            <a:xfrm>
              <a:off x="5575150" y="4959100"/>
              <a:ext cx="161225" cy="178300"/>
            </a:xfrm>
            <a:custGeom>
              <a:avLst/>
              <a:gdLst/>
              <a:ahLst/>
              <a:cxnLst/>
              <a:rect l="l" t="t" r="r" b="b"/>
              <a:pathLst>
                <a:path w="6449" h="7132" extrusionOk="0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8"/>
            <p:cNvSpPr/>
            <p:nvPr/>
          </p:nvSpPr>
          <p:spPr>
            <a:xfrm>
              <a:off x="5330925" y="4985350"/>
              <a:ext cx="128250" cy="148400"/>
            </a:xfrm>
            <a:custGeom>
              <a:avLst/>
              <a:gdLst/>
              <a:ahLst/>
              <a:cxnLst/>
              <a:rect l="l" t="t" r="r" b="b"/>
              <a:pathLst>
                <a:path w="5130" h="5936" extrusionOk="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8"/>
            <p:cNvSpPr/>
            <p:nvPr/>
          </p:nvSpPr>
          <p:spPr>
            <a:xfrm>
              <a:off x="5241175" y="5241175"/>
              <a:ext cx="180125" cy="109325"/>
            </a:xfrm>
            <a:custGeom>
              <a:avLst/>
              <a:gdLst/>
              <a:ahLst/>
              <a:cxnLst/>
              <a:rect l="l" t="t" r="r" b="b"/>
              <a:pathLst>
                <a:path w="7205" h="4373" extrusionOk="0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8"/>
            <p:cNvSpPr/>
            <p:nvPr/>
          </p:nvSpPr>
          <p:spPr>
            <a:xfrm>
              <a:off x="5461575" y="5316900"/>
              <a:ext cx="89175" cy="159975"/>
            </a:xfrm>
            <a:custGeom>
              <a:avLst/>
              <a:gdLst/>
              <a:ahLst/>
              <a:cxnLst/>
              <a:rect l="l" t="t" r="r" b="b"/>
              <a:pathLst>
                <a:path w="3567" h="6399" extrusionOk="0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8"/>
            <p:cNvSpPr/>
            <p:nvPr/>
          </p:nvSpPr>
          <p:spPr>
            <a:xfrm>
              <a:off x="5619100" y="5194175"/>
              <a:ext cx="161850" cy="89775"/>
            </a:xfrm>
            <a:custGeom>
              <a:avLst/>
              <a:gdLst/>
              <a:ahLst/>
              <a:cxnLst/>
              <a:rect l="l" t="t" r="r" b="b"/>
              <a:pathLst>
                <a:path w="6474" h="3591" extrusionOk="0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8"/>
            <p:cNvSpPr/>
            <p:nvPr/>
          </p:nvSpPr>
          <p:spPr>
            <a:xfrm>
              <a:off x="5420075" y="5116000"/>
              <a:ext cx="189300" cy="189925"/>
            </a:xfrm>
            <a:custGeom>
              <a:avLst/>
              <a:gdLst/>
              <a:ahLst/>
              <a:cxnLst/>
              <a:rect l="l" t="t" r="r" b="b"/>
              <a:pathLst>
                <a:path w="7572" h="7597" extrusionOk="0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9" name="Google Shape;279;p8"/>
          <p:cNvSpPr/>
          <p:nvPr/>
        </p:nvSpPr>
        <p:spPr>
          <a:xfrm>
            <a:off x="8081326" y="3153875"/>
            <a:ext cx="299952" cy="272838"/>
          </a:xfrm>
          <a:custGeom>
            <a:avLst/>
            <a:gdLst/>
            <a:ahLst/>
            <a:cxnLst/>
            <a:rect l="l" t="t" r="r" b="b"/>
            <a:pathLst>
              <a:path w="16218" h="14752" extrusionOk="0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8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9"/>
          <p:cNvSpPr/>
          <p:nvPr/>
        </p:nvSpPr>
        <p:spPr>
          <a:xfrm rot="10800000" flipH="1">
            <a:off x="7663675" y="3684808"/>
            <a:ext cx="1034700" cy="895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30000" y="0"/>
                </a:moveTo>
                <a:lnTo>
                  <a:pt x="0" y="59994"/>
                </a:lnTo>
                <a:lnTo>
                  <a:pt x="30000" y="120000"/>
                </a:lnTo>
                <a:lnTo>
                  <a:pt x="90000" y="120000"/>
                </a:lnTo>
                <a:lnTo>
                  <a:pt x="120000" y="59994"/>
                </a:lnTo>
                <a:lnTo>
                  <a:pt x="90000" y="0"/>
                </a:lnTo>
                <a:lnTo>
                  <a:pt x="30000" y="0"/>
                </a:lnTo>
                <a:close/>
                <a:moveTo>
                  <a:pt x="38477" y="16950"/>
                </a:moveTo>
                <a:lnTo>
                  <a:pt x="81522" y="16950"/>
                </a:lnTo>
                <a:lnTo>
                  <a:pt x="103033" y="59994"/>
                </a:lnTo>
                <a:lnTo>
                  <a:pt x="81522" y="103038"/>
                </a:lnTo>
                <a:lnTo>
                  <a:pt x="38477" y="103038"/>
                </a:lnTo>
                <a:lnTo>
                  <a:pt x="16955" y="59994"/>
                </a:lnTo>
                <a:lnTo>
                  <a:pt x="38477" y="1695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lin ang="6983783" scaled="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3" name="Google Shape;283;p9"/>
          <p:cNvSpPr/>
          <p:nvPr/>
        </p:nvSpPr>
        <p:spPr>
          <a:xfrm rot="5400000">
            <a:off x="499599" y="157100"/>
            <a:ext cx="1146000" cy="132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lnTo>
                  <a:pt x="120000" y="30000"/>
                </a:lnTo>
                <a:lnTo>
                  <a:pt x="120000" y="90000"/>
                </a:lnTo>
                <a:lnTo>
                  <a:pt x="60000" y="120000"/>
                </a:lnTo>
                <a:lnTo>
                  <a:pt x="0" y="90000"/>
                </a:lnTo>
                <a:lnTo>
                  <a:pt x="0" y="3000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4" name="Google Shape;284;p9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ctr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285" name="Google Shape;285;p9"/>
          <p:cNvSpPr/>
          <p:nvPr/>
        </p:nvSpPr>
        <p:spPr>
          <a:xfrm rot="10800000" flipH="1">
            <a:off x="-123826" y="1058975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9525" cap="flat" cmpd="sng">
            <a:solidFill>
              <a:srgbClr val="19BB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9"/>
          <p:cNvSpPr/>
          <p:nvPr/>
        </p:nvSpPr>
        <p:spPr>
          <a:xfrm rot="10800000" flipH="1">
            <a:off x="638175" y="1440100"/>
            <a:ext cx="428700" cy="3711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9"/>
          <p:cNvSpPr/>
          <p:nvPr/>
        </p:nvSpPr>
        <p:spPr>
          <a:xfrm rot="10800000" flipH="1">
            <a:off x="1495424" y="-131650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76200" cap="flat" cmpd="sng">
            <a:solidFill>
              <a:srgbClr val="18476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9"/>
          <p:cNvSpPr/>
          <p:nvPr/>
        </p:nvSpPr>
        <p:spPr>
          <a:xfrm rot="10800000" flipH="1">
            <a:off x="327800" y="88925"/>
            <a:ext cx="358800" cy="3105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00E1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9" name="Google Shape;289;p9"/>
          <p:cNvGrpSpPr/>
          <p:nvPr/>
        </p:nvGrpSpPr>
        <p:grpSpPr>
          <a:xfrm>
            <a:off x="1729784" y="61068"/>
            <a:ext cx="351204" cy="324661"/>
            <a:chOff x="5975075" y="2327500"/>
            <a:chExt cx="420100" cy="388350"/>
          </a:xfrm>
        </p:grpSpPr>
        <p:sp>
          <p:nvSpPr>
            <p:cNvPr id="290" name="Google Shape;290;p9"/>
            <p:cNvSpPr/>
            <p:nvPr/>
          </p:nvSpPr>
          <p:spPr>
            <a:xfrm>
              <a:off x="5975075" y="2474650"/>
              <a:ext cx="98325" cy="220450"/>
            </a:xfrm>
            <a:custGeom>
              <a:avLst/>
              <a:gdLst/>
              <a:ahLst/>
              <a:cxnLst/>
              <a:rect l="l" t="t" r="r" b="b"/>
              <a:pathLst>
                <a:path w="3933" h="8818" extrusionOk="0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9"/>
            <p:cNvSpPr/>
            <p:nvPr/>
          </p:nvSpPr>
          <p:spPr>
            <a:xfrm>
              <a:off x="6088025" y="2327500"/>
              <a:ext cx="307150" cy="388350"/>
            </a:xfrm>
            <a:custGeom>
              <a:avLst/>
              <a:gdLst/>
              <a:ahLst/>
              <a:cxnLst/>
              <a:rect l="l" t="t" r="r" b="b"/>
              <a:pathLst>
                <a:path w="12286" h="15534" extrusionOk="0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2" name="Google Shape;292;p9"/>
          <p:cNvSpPr/>
          <p:nvPr/>
        </p:nvSpPr>
        <p:spPr>
          <a:xfrm>
            <a:off x="203100" y="1270177"/>
            <a:ext cx="166061" cy="287704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19B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3" name="Google Shape;293;p9"/>
          <p:cNvGrpSpPr/>
          <p:nvPr/>
        </p:nvGrpSpPr>
        <p:grpSpPr>
          <a:xfrm>
            <a:off x="904276" y="515192"/>
            <a:ext cx="382958" cy="607111"/>
            <a:chOff x="6718575" y="2318625"/>
            <a:chExt cx="256950" cy="407375"/>
          </a:xfrm>
        </p:grpSpPr>
        <p:sp>
          <p:nvSpPr>
            <p:cNvPr id="294" name="Google Shape;294;p9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9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9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l" t="t" r="r" b="b"/>
              <a:pathLst>
                <a:path w="4092" h="1195" fill="none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9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9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l" t="t" r="r" b="b"/>
              <a:pathLst>
                <a:path w="10278" h="12301" fill="none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9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9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l" t="t" r="r" b="b"/>
              <a:pathLst>
                <a:path w="3606" h="780" fill="none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9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l" t="t" r="r" b="b"/>
              <a:pathLst>
                <a:path w="4092" h="1" fill="none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2" name="Google Shape;302;p9"/>
          <p:cNvGrpSpPr/>
          <p:nvPr/>
        </p:nvGrpSpPr>
        <p:grpSpPr>
          <a:xfrm>
            <a:off x="335759" y="1840531"/>
            <a:ext cx="342882" cy="350068"/>
            <a:chOff x="3951850" y="2985350"/>
            <a:chExt cx="407950" cy="416500"/>
          </a:xfrm>
        </p:grpSpPr>
        <p:sp>
          <p:nvSpPr>
            <p:cNvPr id="303" name="Google Shape;303;p9"/>
            <p:cNvSpPr/>
            <p:nvPr/>
          </p:nvSpPr>
          <p:spPr>
            <a:xfrm>
              <a:off x="3951850" y="2985350"/>
              <a:ext cx="314800" cy="314825"/>
            </a:xfrm>
            <a:custGeom>
              <a:avLst/>
              <a:gdLst/>
              <a:ahLst/>
              <a:cxnLst/>
              <a:rect l="l" t="t" r="r" b="b"/>
              <a:pathLst>
                <a:path w="12592" h="12593" fill="none" extrusionOk="0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9"/>
            <p:cNvSpPr/>
            <p:nvPr/>
          </p:nvSpPr>
          <p:spPr>
            <a:xfrm>
              <a:off x="3988375" y="3021875"/>
              <a:ext cx="241750" cy="241750"/>
            </a:xfrm>
            <a:custGeom>
              <a:avLst/>
              <a:gdLst/>
              <a:ahLst/>
              <a:cxnLst/>
              <a:rect l="l" t="t" r="r" b="b"/>
              <a:pathLst>
                <a:path w="9670" h="9670" fill="none" extrusionOk="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9"/>
            <p:cNvSpPr/>
            <p:nvPr/>
          </p:nvSpPr>
          <p:spPr>
            <a:xfrm>
              <a:off x="4024300" y="3058425"/>
              <a:ext cx="84650" cy="84650"/>
            </a:xfrm>
            <a:custGeom>
              <a:avLst/>
              <a:gdLst/>
              <a:ahLst/>
              <a:cxnLst/>
              <a:rect l="l" t="t" r="r" b="b"/>
              <a:pathLst>
                <a:path w="3386" h="3386" fill="none" extrusionOk="0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9"/>
            <p:cNvSpPr/>
            <p:nvPr/>
          </p:nvSpPr>
          <p:spPr>
            <a:xfrm>
              <a:off x="4205750" y="3248375"/>
              <a:ext cx="154050" cy="153475"/>
            </a:xfrm>
            <a:custGeom>
              <a:avLst/>
              <a:gdLst/>
              <a:ahLst/>
              <a:cxnLst/>
              <a:rect l="l" t="t" r="r" b="b"/>
              <a:pathLst>
                <a:path w="6162" h="6139" fill="none" extrusionOk="0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7" name="Google Shape;307;p9"/>
          <p:cNvSpPr/>
          <p:nvPr/>
        </p:nvSpPr>
        <p:spPr>
          <a:xfrm rot="10800000" flipH="1">
            <a:off x="8486774" y="4230775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9525" cap="flat" cmpd="sng">
            <a:solidFill>
              <a:srgbClr val="1847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9"/>
          <p:cNvSpPr/>
          <p:nvPr/>
        </p:nvSpPr>
        <p:spPr>
          <a:xfrm rot="10800000" flipH="1">
            <a:off x="8124824" y="4615700"/>
            <a:ext cx="428700" cy="3711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9"/>
          <p:cNvSpPr/>
          <p:nvPr/>
        </p:nvSpPr>
        <p:spPr>
          <a:xfrm rot="10800000" flipH="1">
            <a:off x="7821348" y="2935400"/>
            <a:ext cx="819900" cy="7098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9"/>
          <p:cNvSpPr/>
          <p:nvPr/>
        </p:nvSpPr>
        <p:spPr>
          <a:xfrm rot="10800000" flipH="1">
            <a:off x="8486775" y="3512175"/>
            <a:ext cx="358800" cy="310500"/>
          </a:xfrm>
          <a:prstGeom prst="hexagon">
            <a:avLst>
              <a:gd name="adj" fmla="val 28678"/>
              <a:gd name="vf" fmla="val 115470"/>
            </a:avLst>
          </a:prstGeom>
          <a:noFill/>
          <a:ln w="19050" cap="flat" cmpd="sng">
            <a:solidFill>
              <a:srgbClr val="00E1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9"/>
          <p:cNvSpPr/>
          <p:nvPr/>
        </p:nvSpPr>
        <p:spPr>
          <a:xfrm>
            <a:off x="8772688" y="4461808"/>
            <a:ext cx="248073" cy="248058"/>
          </a:xfrm>
          <a:custGeom>
            <a:avLst/>
            <a:gdLst/>
            <a:ahLst/>
            <a:cxnLst/>
            <a:rect l="l" t="t" r="r" b="b"/>
            <a:pathLst>
              <a:path w="17000" h="16999" extrusionOk="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2" name="Google Shape;312;p9"/>
          <p:cNvGrpSpPr/>
          <p:nvPr/>
        </p:nvGrpSpPr>
        <p:grpSpPr>
          <a:xfrm>
            <a:off x="7354067" y="3426715"/>
            <a:ext cx="455624" cy="437054"/>
            <a:chOff x="5241175" y="4959100"/>
            <a:chExt cx="539775" cy="517775"/>
          </a:xfrm>
        </p:grpSpPr>
        <p:sp>
          <p:nvSpPr>
            <p:cNvPr id="313" name="Google Shape;313;p9"/>
            <p:cNvSpPr/>
            <p:nvPr/>
          </p:nvSpPr>
          <p:spPr>
            <a:xfrm>
              <a:off x="5575150" y="4959100"/>
              <a:ext cx="161225" cy="178300"/>
            </a:xfrm>
            <a:custGeom>
              <a:avLst/>
              <a:gdLst/>
              <a:ahLst/>
              <a:cxnLst/>
              <a:rect l="l" t="t" r="r" b="b"/>
              <a:pathLst>
                <a:path w="6449" h="7132" extrusionOk="0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9"/>
            <p:cNvSpPr/>
            <p:nvPr/>
          </p:nvSpPr>
          <p:spPr>
            <a:xfrm>
              <a:off x="5330925" y="4985350"/>
              <a:ext cx="128250" cy="148400"/>
            </a:xfrm>
            <a:custGeom>
              <a:avLst/>
              <a:gdLst/>
              <a:ahLst/>
              <a:cxnLst/>
              <a:rect l="l" t="t" r="r" b="b"/>
              <a:pathLst>
                <a:path w="5130" h="5936" extrusionOk="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9"/>
            <p:cNvSpPr/>
            <p:nvPr/>
          </p:nvSpPr>
          <p:spPr>
            <a:xfrm>
              <a:off x="5241175" y="5241175"/>
              <a:ext cx="180125" cy="109325"/>
            </a:xfrm>
            <a:custGeom>
              <a:avLst/>
              <a:gdLst/>
              <a:ahLst/>
              <a:cxnLst/>
              <a:rect l="l" t="t" r="r" b="b"/>
              <a:pathLst>
                <a:path w="7205" h="4373" extrusionOk="0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9"/>
            <p:cNvSpPr/>
            <p:nvPr/>
          </p:nvSpPr>
          <p:spPr>
            <a:xfrm>
              <a:off x="5461575" y="5316900"/>
              <a:ext cx="89175" cy="159975"/>
            </a:xfrm>
            <a:custGeom>
              <a:avLst/>
              <a:gdLst/>
              <a:ahLst/>
              <a:cxnLst/>
              <a:rect l="l" t="t" r="r" b="b"/>
              <a:pathLst>
                <a:path w="3567" h="6399" extrusionOk="0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9"/>
            <p:cNvSpPr/>
            <p:nvPr/>
          </p:nvSpPr>
          <p:spPr>
            <a:xfrm>
              <a:off x="5619100" y="5194175"/>
              <a:ext cx="161850" cy="89775"/>
            </a:xfrm>
            <a:custGeom>
              <a:avLst/>
              <a:gdLst/>
              <a:ahLst/>
              <a:cxnLst/>
              <a:rect l="l" t="t" r="r" b="b"/>
              <a:pathLst>
                <a:path w="6474" h="3591" extrusionOk="0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9"/>
            <p:cNvSpPr/>
            <p:nvPr/>
          </p:nvSpPr>
          <p:spPr>
            <a:xfrm>
              <a:off x="5420075" y="5116000"/>
              <a:ext cx="189300" cy="189925"/>
            </a:xfrm>
            <a:custGeom>
              <a:avLst/>
              <a:gdLst/>
              <a:ahLst/>
              <a:cxnLst/>
              <a:rect l="l" t="t" r="r" b="b"/>
              <a:pathLst>
                <a:path w="7572" h="7597" extrusionOk="0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9" name="Google Shape;319;p9"/>
          <p:cNvSpPr/>
          <p:nvPr/>
        </p:nvSpPr>
        <p:spPr>
          <a:xfrm>
            <a:off x="8081326" y="3153875"/>
            <a:ext cx="299952" cy="272838"/>
          </a:xfrm>
          <a:custGeom>
            <a:avLst/>
            <a:gdLst/>
            <a:ahLst/>
            <a:cxnLst/>
            <a:rect l="l" t="t" r="r" b="b"/>
            <a:pathLst>
              <a:path w="16218" h="14752" extrusionOk="0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9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0"/>
          <p:cNvSpPr/>
          <p:nvPr/>
        </p:nvSpPr>
        <p:spPr>
          <a:xfrm rot="10800000" flipH="1">
            <a:off x="8218352" y="4121459"/>
            <a:ext cx="685200" cy="593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30000" y="0"/>
                </a:moveTo>
                <a:lnTo>
                  <a:pt x="0" y="59994"/>
                </a:lnTo>
                <a:lnTo>
                  <a:pt x="30000" y="120000"/>
                </a:lnTo>
                <a:lnTo>
                  <a:pt x="90000" y="120000"/>
                </a:lnTo>
                <a:lnTo>
                  <a:pt x="120000" y="59994"/>
                </a:lnTo>
                <a:lnTo>
                  <a:pt x="90000" y="0"/>
                </a:lnTo>
                <a:lnTo>
                  <a:pt x="30000" y="0"/>
                </a:lnTo>
                <a:close/>
                <a:moveTo>
                  <a:pt x="38477" y="16950"/>
                </a:moveTo>
                <a:lnTo>
                  <a:pt x="81522" y="16950"/>
                </a:lnTo>
                <a:lnTo>
                  <a:pt x="103033" y="59994"/>
                </a:lnTo>
                <a:lnTo>
                  <a:pt x="81522" y="103038"/>
                </a:lnTo>
                <a:lnTo>
                  <a:pt x="38477" y="103038"/>
                </a:lnTo>
                <a:lnTo>
                  <a:pt x="16955" y="59994"/>
                </a:lnTo>
                <a:lnTo>
                  <a:pt x="38477" y="1695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lin ang="6983783" scaled="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3" name="Google Shape;323;p10"/>
          <p:cNvSpPr/>
          <p:nvPr/>
        </p:nvSpPr>
        <p:spPr>
          <a:xfrm rot="5400000">
            <a:off x="388487" y="105212"/>
            <a:ext cx="944100" cy="109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lnTo>
                  <a:pt x="120000" y="30000"/>
                </a:lnTo>
                <a:lnTo>
                  <a:pt x="120000" y="90000"/>
                </a:lnTo>
                <a:lnTo>
                  <a:pt x="60000" y="120000"/>
                </a:lnTo>
                <a:lnTo>
                  <a:pt x="0" y="90000"/>
                </a:lnTo>
                <a:lnTo>
                  <a:pt x="0" y="3000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4" name="Google Shape;324;p10"/>
          <p:cNvSpPr/>
          <p:nvPr/>
        </p:nvSpPr>
        <p:spPr>
          <a:xfrm rot="10800000" flipH="1">
            <a:off x="-123825" y="847791"/>
            <a:ext cx="674400" cy="584400"/>
          </a:xfrm>
          <a:prstGeom prst="hexagon">
            <a:avLst>
              <a:gd name="adj" fmla="val 28678"/>
              <a:gd name="vf" fmla="val 115470"/>
            </a:avLst>
          </a:prstGeom>
          <a:noFill/>
          <a:ln w="9525" cap="flat" cmpd="sng">
            <a:solidFill>
              <a:srgbClr val="19BB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0"/>
          <p:cNvSpPr/>
          <p:nvPr/>
        </p:nvSpPr>
        <p:spPr>
          <a:xfrm rot="10800000" flipH="1">
            <a:off x="503116" y="1161450"/>
            <a:ext cx="352800" cy="3054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0"/>
          <p:cNvSpPr/>
          <p:nvPr/>
        </p:nvSpPr>
        <p:spPr>
          <a:xfrm rot="10800000" flipH="1">
            <a:off x="1208424" y="-131812"/>
            <a:ext cx="674400" cy="584400"/>
          </a:xfrm>
          <a:prstGeom prst="hexagon">
            <a:avLst>
              <a:gd name="adj" fmla="val 28678"/>
              <a:gd name="vf" fmla="val 115470"/>
            </a:avLst>
          </a:prstGeom>
          <a:noFill/>
          <a:ln w="76200" cap="flat" cmpd="sng">
            <a:solidFill>
              <a:srgbClr val="18476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0"/>
          <p:cNvSpPr/>
          <p:nvPr/>
        </p:nvSpPr>
        <p:spPr>
          <a:xfrm rot="10800000" flipH="1">
            <a:off x="247753" y="49693"/>
            <a:ext cx="295200" cy="2556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00E1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0"/>
          <p:cNvSpPr/>
          <p:nvPr/>
        </p:nvSpPr>
        <p:spPr>
          <a:xfrm rot="10800000" flipH="1">
            <a:off x="8763568" y="4485979"/>
            <a:ext cx="543000" cy="470400"/>
          </a:xfrm>
          <a:prstGeom prst="hexagon">
            <a:avLst>
              <a:gd name="adj" fmla="val 28678"/>
              <a:gd name="vf" fmla="val 115470"/>
            </a:avLst>
          </a:prstGeom>
          <a:noFill/>
          <a:ln w="9525" cap="flat" cmpd="sng">
            <a:solidFill>
              <a:srgbClr val="1847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0"/>
          <p:cNvSpPr/>
          <p:nvPr/>
        </p:nvSpPr>
        <p:spPr>
          <a:xfrm rot="10800000" flipH="1">
            <a:off x="8523810" y="4741100"/>
            <a:ext cx="284100" cy="2457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0"/>
          <p:cNvSpPr/>
          <p:nvPr/>
        </p:nvSpPr>
        <p:spPr>
          <a:xfrm rot="10800000" flipH="1">
            <a:off x="8322785" y="3628023"/>
            <a:ext cx="543000" cy="4701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0"/>
          <p:cNvSpPr/>
          <p:nvPr/>
        </p:nvSpPr>
        <p:spPr>
          <a:xfrm rot="10800000" flipH="1">
            <a:off x="8763569" y="4009882"/>
            <a:ext cx="237600" cy="205800"/>
          </a:xfrm>
          <a:prstGeom prst="hexagon">
            <a:avLst>
              <a:gd name="adj" fmla="val 28678"/>
              <a:gd name="vf" fmla="val 115470"/>
            </a:avLst>
          </a:prstGeom>
          <a:noFill/>
          <a:ln w="19050" cap="flat" cmpd="sng">
            <a:solidFill>
              <a:srgbClr val="00E1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0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rgbClr val="0E293C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732700" y="1735600"/>
            <a:ext cx="4944300" cy="6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732700" y="2255125"/>
            <a:ext cx="4944300" cy="16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600"/>
              </a:spcBef>
              <a:spcAft>
                <a:spcPts val="0"/>
              </a:spcAft>
              <a:buClr>
                <a:srgbClr val="19BBD5"/>
              </a:buClr>
              <a:buSzPts val="1400"/>
              <a:buFont typeface="Muli"/>
              <a:buChar char="◇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1400"/>
              <a:buFont typeface="Muli"/>
              <a:buChar char="￭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1400"/>
              <a:buFont typeface="Muli"/>
              <a:buChar char="￮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1400"/>
              <a:buFont typeface="Muli"/>
              <a:buChar char="●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1400"/>
              <a:buFont typeface="Muli"/>
              <a:buChar char="○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C6DAEC"/>
              </a:buClr>
              <a:buSzPts val="1400"/>
              <a:buFont typeface="Muli"/>
              <a:buChar char="■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C6DAEC"/>
              </a:buClr>
              <a:buSzPts val="1400"/>
              <a:buFont typeface="Muli"/>
              <a:buChar char="●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C6DAEC"/>
              </a:buClr>
              <a:buSzPts val="1400"/>
              <a:buFont typeface="Muli"/>
              <a:buChar char="○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C6DAEC"/>
              </a:buClr>
              <a:buSzPts val="1400"/>
              <a:buFont typeface="Muli"/>
              <a:buChar char="■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1pPr>
            <a:lvl2pPr lvl="1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2pPr>
            <a:lvl3pPr lvl="2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3pPr>
            <a:lvl4pPr lvl="3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4pPr>
            <a:lvl5pPr lvl="4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5pPr>
            <a:lvl6pPr lvl="5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6pPr>
            <a:lvl7pPr lvl="6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7pPr>
            <a:lvl8pPr lvl="7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8pPr>
            <a:lvl9pPr lvl="8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4" r:id="rId5"/>
    <p:sldLayoutId id="2147483655" r:id="rId6"/>
    <p:sldLayoutId id="2147483656" r:id="rId7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1"/>
          <p:cNvSpPr txBox="1">
            <a:spLocks noGrp="1"/>
          </p:cNvSpPr>
          <p:nvPr>
            <p:ph type="ctrTitle"/>
          </p:nvPr>
        </p:nvSpPr>
        <p:spPr>
          <a:xfrm>
            <a:off x="1400175" y="1991825"/>
            <a:ext cx="63435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Optimizing SpMV in accordance with HPCG Benchmark</a:t>
            </a:r>
            <a:endParaRPr sz="3600" dirty="0"/>
          </a:p>
        </p:txBody>
      </p:sp>
      <p:sp>
        <p:nvSpPr>
          <p:cNvPr id="2" name="Google Shape;337;p11">
            <a:extLst>
              <a:ext uri="{FF2B5EF4-FFF2-40B4-BE49-F238E27FC236}">
                <a16:creationId xmlns:a16="http://schemas.microsoft.com/office/drawing/2014/main" id="{E11194C2-13D0-A9E7-0804-F96F8579687B}"/>
              </a:ext>
            </a:extLst>
          </p:cNvPr>
          <p:cNvSpPr txBox="1">
            <a:spLocks/>
          </p:cNvSpPr>
          <p:nvPr/>
        </p:nvSpPr>
        <p:spPr>
          <a:xfrm>
            <a:off x="167584" y="3879594"/>
            <a:ext cx="4404341" cy="1060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800"/>
              <a:buFont typeface="Nixie One"/>
              <a:buNone/>
              <a:defRPr sz="48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800"/>
              <a:buFont typeface="Nixie One"/>
              <a:buNone/>
              <a:defRPr sz="48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800"/>
              <a:buFont typeface="Nixie One"/>
              <a:buNone/>
              <a:defRPr sz="48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800"/>
              <a:buFont typeface="Nixie One"/>
              <a:buNone/>
              <a:defRPr sz="48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800"/>
              <a:buFont typeface="Nixie One"/>
              <a:buNone/>
              <a:defRPr sz="48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800"/>
              <a:buFont typeface="Nixie One"/>
              <a:buNone/>
              <a:defRPr sz="48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800"/>
              <a:buFont typeface="Nixie One"/>
              <a:buNone/>
              <a:defRPr sz="48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800"/>
              <a:buFont typeface="Nixie One"/>
              <a:buNone/>
              <a:defRPr sz="48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800"/>
              <a:buFont typeface="Nixie One"/>
              <a:buNone/>
              <a:defRPr sz="48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pPr algn="l"/>
            <a:r>
              <a:rPr lang="en-US" sz="2400" dirty="0"/>
              <a:t>Presented By:</a:t>
            </a:r>
          </a:p>
          <a:p>
            <a:pPr algn="l"/>
            <a:r>
              <a:rPr lang="en-US" sz="2400" dirty="0"/>
              <a:t>Ahmed Abdullah</a:t>
            </a:r>
          </a:p>
          <a:p>
            <a:pPr algn="l"/>
            <a:r>
              <a:rPr lang="en-US" sz="2400" dirty="0"/>
              <a:t>Mohammad Rohaan</a:t>
            </a:r>
          </a:p>
        </p:txBody>
      </p:sp>
      <p:sp>
        <p:nvSpPr>
          <p:cNvPr id="3" name="Google Shape;337;p11">
            <a:extLst>
              <a:ext uri="{FF2B5EF4-FFF2-40B4-BE49-F238E27FC236}">
                <a16:creationId xmlns:a16="http://schemas.microsoft.com/office/drawing/2014/main" id="{0C003784-86B4-2085-8015-10731ABEF7E5}"/>
              </a:ext>
            </a:extLst>
          </p:cNvPr>
          <p:cNvSpPr txBox="1">
            <a:spLocks/>
          </p:cNvSpPr>
          <p:nvPr/>
        </p:nvSpPr>
        <p:spPr>
          <a:xfrm>
            <a:off x="6392310" y="3879594"/>
            <a:ext cx="4404341" cy="1060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800"/>
              <a:buFont typeface="Nixie One"/>
              <a:buNone/>
              <a:defRPr sz="48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800"/>
              <a:buFont typeface="Nixie One"/>
              <a:buNone/>
              <a:defRPr sz="48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800"/>
              <a:buFont typeface="Nixie One"/>
              <a:buNone/>
              <a:defRPr sz="48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800"/>
              <a:buFont typeface="Nixie One"/>
              <a:buNone/>
              <a:defRPr sz="48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800"/>
              <a:buFont typeface="Nixie One"/>
              <a:buNone/>
              <a:defRPr sz="48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800"/>
              <a:buFont typeface="Nixie One"/>
              <a:buNone/>
              <a:defRPr sz="48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800"/>
              <a:buFont typeface="Nixie One"/>
              <a:buNone/>
              <a:defRPr sz="48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800"/>
              <a:buFont typeface="Nixie One"/>
              <a:buNone/>
              <a:defRPr sz="48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800"/>
              <a:buFont typeface="Nixie One"/>
              <a:buNone/>
              <a:defRPr sz="48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pPr algn="l"/>
            <a:r>
              <a:rPr lang="en-US" sz="2400" dirty="0"/>
              <a:t>Presented To:</a:t>
            </a:r>
          </a:p>
          <a:p>
            <a:pPr algn="l"/>
            <a:r>
              <a:rPr lang="en-US" sz="2400" dirty="0"/>
              <a:t>Muhammad Rizwan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42;p12">
            <a:extLst>
              <a:ext uri="{FF2B5EF4-FFF2-40B4-BE49-F238E27FC236}">
                <a16:creationId xmlns:a16="http://schemas.microsoft.com/office/drawing/2014/main" id="{8B5A7B4B-04A6-D753-A8FB-8D1A335D5BD7}"/>
              </a:ext>
            </a:extLst>
          </p:cNvPr>
          <p:cNvSpPr txBox="1">
            <a:spLocks/>
          </p:cNvSpPr>
          <p:nvPr/>
        </p:nvSpPr>
        <p:spPr>
          <a:xfrm>
            <a:off x="13557" y="2377326"/>
            <a:ext cx="3928128" cy="2508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r>
              <a:rPr lang="en-US" dirty="0">
                <a:latin typeface="OCR-A BT" panose="020F0501020204020304" pitchFamily="34" charset="0"/>
              </a:rPr>
              <a:t>High</a:t>
            </a:r>
          </a:p>
          <a:p>
            <a:r>
              <a:rPr lang="en-US" dirty="0">
                <a:latin typeface="OCR-A BT" panose="020F0501020204020304" pitchFamily="34" charset="0"/>
              </a:rPr>
              <a:t>Performance</a:t>
            </a:r>
          </a:p>
          <a:p>
            <a:r>
              <a:rPr lang="en-US" dirty="0">
                <a:latin typeface="OCR-A BT" panose="020F0501020204020304" pitchFamily="34" charset="0"/>
              </a:rPr>
              <a:t>Conjugate</a:t>
            </a:r>
          </a:p>
          <a:p>
            <a:r>
              <a:rPr lang="en-US" dirty="0">
                <a:latin typeface="OCR-A BT" panose="020F0501020204020304" pitchFamily="34" charset="0"/>
              </a:rPr>
              <a:t>Gradient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D059FD5-4080-5447-B107-513574997FEA}"/>
              </a:ext>
            </a:extLst>
          </p:cNvPr>
          <p:cNvGrpSpPr/>
          <p:nvPr/>
        </p:nvGrpSpPr>
        <p:grpSpPr>
          <a:xfrm>
            <a:off x="4229970" y="2377326"/>
            <a:ext cx="4989250" cy="2508107"/>
            <a:chOff x="4074850" y="63643"/>
            <a:chExt cx="4989250" cy="2508107"/>
          </a:xfrm>
        </p:grpSpPr>
        <p:sp>
          <p:nvSpPr>
            <p:cNvPr id="9" name="Google Shape;342;p12">
              <a:extLst>
                <a:ext uri="{FF2B5EF4-FFF2-40B4-BE49-F238E27FC236}">
                  <a16:creationId xmlns:a16="http://schemas.microsoft.com/office/drawing/2014/main" id="{C8B39F22-A644-8642-8C93-219D2C37D2FE}"/>
                </a:ext>
              </a:extLst>
            </p:cNvPr>
            <p:cNvSpPr txBox="1">
              <a:spLocks/>
            </p:cNvSpPr>
            <p:nvPr/>
          </p:nvSpPr>
          <p:spPr>
            <a:xfrm>
              <a:off x="4074850" y="63643"/>
              <a:ext cx="4989250" cy="25081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9BBD5"/>
                </a:buClr>
                <a:buSzPts val="4000"/>
                <a:buFont typeface="Nixie One"/>
                <a:buNone/>
                <a:defRPr sz="4000" b="0" i="0" u="none" strike="noStrike" cap="none">
                  <a:solidFill>
                    <a:srgbClr val="19BBD5"/>
                  </a:solidFill>
                  <a:latin typeface="Nixie One"/>
                  <a:ea typeface="Nixie One"/>
                  <a:cs typeface="Nixie One"/>
                  <a:sym typeface="Nixie One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9BBD5"/>
                </a:buClr>
                <a:buSzPts val="4000"/>
                <a:buFont typeface="Nixie One"/>
                <a:buNone/>
                <a:defRPr sz="4000" b="0" i="0" u="none" strike="noStrike" cap="none">
                  <a:solidFill>
                    <a:srgbClr val="19BBD5"/>
                  </a:solidFill>
                  <a:latin typeface="Nixie One"/>
                  <a:ea typeface="Nixie One"/>
                  <a:cs typeface="Nixie One"/>
                  <a:sym typeface="Nixie One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9BBD5"/>
                </a:buClr>
                <a:buSzPts val="4000"/>
                <a:buFont typeface="Nixie One"/>
                <a:buNone/>
                <a:defRPr sz="4000" b="0" i="0" u="none" strike="noStrike" cap="none">
                  <a:solidFill>
                    <a:srgbClr val="19BBD5"/>
                  </a:solidFill>
                  <a:latin typeface="Nixie One"/>
                  <a:ea typeface="Nixie One"/>
                  <a:cs typeface="Nixie One"/>
                  <a:sym typeface="Nixie One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9BBD5"/>
                </a:buClr>
                <a:buSzPts val="4000"/>
                <a:buFont typeface="Nixie One"/>
                <a:buNone/>
                <a:defRPr sz="4000" b="0" i="0" u="none" strike="noStrike" cap="none">
                  <a:solidFill>
                    <a:srgbClr val="19BBD5"/>
                  </a:solidFill>
                  <a:latin typeface="Nixie One"/>
                  <a:ea typeface="Nixie One"/>
                  <a:cs typeface="Nixie One"/>
                  <a:sym typeface="Nixie One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9BBD5"/>
                </a:buClr>
                <a:buSzPts val="4000"/>
                <a:buFont typeface="Nixie One"/>
                <a:buNone/>
                <a:defRPr sz="4000" b="0" i="0" u="none" strike="noStrike" cap="none">
                  <a:solidFill>
                    <a:srgbClr val="19BBD5"/>
                  </a:solidFill>
                  <a:latin typeface="Nixie One"/>
                  <a:ea typeface="Nixie One"/>
                  <a:cs typeface="Nixie One"/>
                  <a:sym typeface="Nixie One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9BBD5"/>
                </a:buClr>
                <a:buSzPts val="4000"/>
                <a:buFont typeface="Nixie One"/>
                <a:buNone/>
                <a:defRPr sz="4000" b="0" i="0" u="none" strike="noStrike" cap="none">
                  <a:solidFill>
                    <a:srgbClr val="19BBD5"/>
                  </a:solidFill>
                  <a:latin typeface="Nixie One"/>
                  <a:ea typeface="Nixie One"/>
                  <a:cs typeface="Nixie One"/>
                  <a:sym typeface="Nixie One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9BBD5"/>
                </a:buClr>
                <a:buSzPts val="4000"/>
                <a:buFont typeface="Nixie One"/>
                <a:buNone/>
                <a:defRPr sz="4000" b="0" i="0" u="none" strike="noStrike" cap="none">
                  <a:solidFill>
                    <a:srgbClr val="19BBD5"/>
                  </a:solidFill>
                  <a:latin typeface="Nixie One"/>
                  <a:ea typeface="Nixie One"/>
                  <a:cs typeface="Nixie One"/>
                  <a:sym typeface="Nixie One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9BBD5"/>
                </a:buClr>
                <a:buSzPts val="4000"/>
                <a:buFont typeface="Nixie One"/>
                <a:buNone/>
                <a:defRPr sz="4000" b="0" i="0" u="none" strike="noStrike" cap="none">
                  <a:solidFill>
                    <a:srgbClr val="19BBD5"/>
                  </a:solidFill>
                  <a:latin typeface="Nixie One"/>
                  <a:ea typeface="Nixie One"/>
                  <a:cs typeface="Nixie One"/>
                  <a:sym typeface="Nixie One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9BBD5"/>
                </a:buClr>
                <a:buSzPts val="4000"/>
                <a:buFont typeface="Nixie One"/>
                <a:buNone/>
                <a:defRPr sz="4000" b="0" i="0" u="none" strike="noStrike" cap="none">
                  <a:solidFill>
                    <a:srgbClr val="19BBD5"/>
                  </a:solidFill>
                  <a:latin typeface="Nixie One"/>
                  <a:ea typeface="Nixie One"/>
                  <a:cs typeface="Nixie One"/>
                  <a:sym typeface="Nixie One"/>
                </a:defRPr>
              </a:lvl9pPr>
            </a:lstStyle>
            <a:p>
              <a:pPr marL="285750" lvl="0" indent="-285750">
                <a:buSzPct val="100000"/>
                <a:buFont typeface="Wingdings" panose="05000000000000000000" pitchFamily="2" charset="2"/>
                <a:buChar char="q"/>
              </a:pPr>
              <a:r>
                <a:rPr lang="en-US" sz="2000" dirty="0"/>
                <a:t>Designed for </a:t>
              </a:r>
              <a:r>
                <a:rPr lang="en-US" sz="2000" b="1" dirty="0"/>
                <a:t>real-world workloads</a:t>
              </a:r>
            </a:p>
            <a:p>
              <a:pPr marL="285750" lvl="0" indent="-285750">
                <a:buSzPct val="100000"/>
                <a:buFont typeface="Wingdings" panose="05000000000000000000" pitchFamily="2" charset="2"/>
                <a:buChar char="q"/>
              </a:pPr>
              <a:endParaRPr lang="en-PK" sz="2000" dirty="0"/>
            </a:p>
            <a:p>
              <a:pPr marL="285750" lvl="0" indent="-285750">
                <a:buSzPct val="100000"/>
                <a:buFont typeface="Wingdings" panose="05000000000000000000" pitchFamily="2" charset="2"/>
                <a:buChar char="q"/>
              </a:pPr>
              <a:r>
                <a:rPr lang="en-US" sz="2000" dirty="0"/>
                <a:t>Focuses on:</a:t>
              </a:r>
            </a:p>
            <a:p>
              <a:pPr marL="285750" lvl="0" indent="-285750">
                <a:buFont typeface="Wingdings" panose="05000000000000000000" pitchFamily="2" charset="2"/>
                <a:buChar char="q"/>
              </a:pPr>
              <a:endParaRPr lang="en-US" sz="2000" dirty="0"/>
            </a:p>
            <a:p>
              <a:pPr marL="285750" lvl="0" indent="-285750">
                <a:buFont typeface="Wingdings" panose="05000000000000000000" pitchFamily="2" charset="2"/>
                <a:buChar char="q"/>
              </a:pPr>
              <a:endParaRPr lang="en-PK" sz="18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7A1ACE8-165E-365C-EB35-1C0170C38E30}"/>
                </a:ext>
              </a:extLst>
            </p:cNvPr>
            <p:cNvSpPr txBox="1"/>
            <p:nvPr/>
          </p:nvSpPr>
          <p:spPr>
            <a:xfrm>
              <a:off x="5624355" y="1256187"/>
              <a:ext cx="3211135" cy="12926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lvl="1" indent="-285750">
                <a:buClr>
                  <a:srgbClr val="1BD8D5"/>
                </a:buClr>
                <a:buFont typeface="Wingdings" panose="05000000000000000000" pitchFamily="2" charset="2"/>
                <a:buChar char="§"/>
              </a:pPr>
              <a:r>
                <a:rPr lang="en-US" sz="1600" dirty="0">
                  <a:solidFill>
                    <a:srgbClr val="19BBD5"/>
                  </a:solidFill>
                  <a:latin typeface="Aptos Display" panose="020B0004020202020204" pitchFamily="34" charset="0"/>
                </a:rPr>
                <a:t>Memory access</a:t>
              </a:r>
              <a:endParaRPr lang="en-PK" sz="1600" dirty="0">
                <a:solidFill>
                  <a:srgbClr val="19BBD5"/>
                </a:solidFill>
                <a:latin typeface="Aptos Display" panose="020B0004020202020204" pitchFamily="34" charset="0"/>
              </a:endParaRPr>
            </a:p>
            <a:p>
              <a:pPr marL="285750" lvl="1" indent="-285750">
                <a:buClr>
                  <a:srgbClr val="1BD8D5"/>
                </a:buClr>
                <a:buFont typeface="Wingdings" panose="05000000000000000000" pitchFamily="2" charset="2"/>
                <a:buChar char="§"/>
              </a:pPr>
              <a:r>
                <a:rPr lang="en-US" sz="1600" dirty="0">
                  <a:solidFill>
                    <a:srgbClr val="19BBD5"/>
                  </a:solidFill>
                  <a:latin typeface="Aptos Display" panose="020B0004020202020204" pitchFamily="34" charset="0"/>
                </a:rPr>
                <a:t>Sparse computations</a:t>
              </a:r>
              <a:endParaRPr lang="en-PK" sz="1600" dirty="0">
                <a:solidFill>
                  <a:srgbClr val="19BBD5"/>
                </a:solidFill>
                <a:latin typeface="Aptos Display" panose="020B0004020202020204" pitchFamily="34" charset="0"/>
              </a:endParaRPr>
            </a:p>
            <a:p>
              <a:pPr marL="285750" lvl="1" indent="-285750">
                <a:buClr>
                  <a:srgbClr val="1BD8D5"/>
                </a:buClr>
                <a:buFont typeface="Wingdings" panose="05000000000000000000" pitchFamily="2" charset="2"/>
                <a:buChar char="§"/>
              </a:pPr>
              <a:r>
                <a:rPr lang="en-US" sz="1600" dirty="0">
                  <a:solidFill>
                    <a:srgbClr val="19BBD5"/>
                  </a:solidFill>
                  <a:latin typeface="Aptos Display" panose="020B0004020202020204" pitchFamily="34" charset="0"/>
                </a:rPr>
                <a:t>Iterative solvers</a:t>
              </a:r>
              <a:endParaRPr lang="en-PK" sz="1600" dirty="0">
                <a:solidFill>
                  <a:srgbClr val="19BBD5"/>
                </a:solidFill>
                <a:latin typeface="Aptos Display" panose="020B0004020202020204" pitchFamily="34" charset="0"/>
              </a:endParaRPr>
            </a:p>
            <a:p>
              <a:pPr marL="285750" lvl="0" indent="-285750">
                <a:buClr>
                  <a:srgbClr val="1BD8D5"/>
                </a:buClr>
                <a:buFont typeface="Wingdings" panose="05000000000000000000" pitchFamily="2" charset="2"/>
                <a:buChar char="§"/>
              </a:pPr>
              <a:r>
                <a:rPr lang="en-US" sz="1600" dirty="0">
                  <a:solidFill>
                    <a:srgbClr val="19BBD5"/>
                  </a:solidFill>
                  <a:latin typeface="Aptos Display" panose="020B0004020202020204" pitchFamily="34" charset="0"/>
                </a:rPr>
                <a:t>More realistic than HPL (</a:t>
              </a:r>
              <a:r>
                <a:rPr lang="en-US" sz="1600" dirty="0" err="1">
                  <a:solidFill>
                    <a:srgbClr val="19BBD5"/>
                  </a:solidFill>
                  <a:latin typeface="Aptos Display" panose="020B0004020202020204" pitchFamily="34" charset="0"/>
                </a:rPr>
                <a:t>Linpack</a:t>
              </a:r>
              <a:r>
                <a:rPr lang="en-US" sz="1600" dirty="0">
                  <a:solidFill>
                    <a:srgbClr val="19BBD5"/>
                  </a:solidFill>
                  <a:latin typeface="Aptos Display" panose="020B0004020202020204" pitchFamily="34" charset="0"/>
                </a:rPr>
                <a:t>)</a:t>
              </a:r>
              <a:endParaRPr lang="en-PK" sz="1600" dirty="0">
                <a:solidFill>
                  <a:srgbClr val="19BBD5"/>
                </a:solidFill>
                <a:latin typeface="Aptos Display" panose="020B0004020202020204" pitchFamily="34" charset="0"/>
              </a:endParaRPr>
            </a:p>
            <a:p>
              <a:endParaRPr lang="en-PK" dirty="0"/>
            </a:p>
          </p:txBody>
        </p:sp>
      </p:grp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D6D48AFB-DCD7-6F77-4E12-1F6B69985612}"/>
              </a:ext>
            </a:extLst>
          </p:cNvPr>
          <p:cNvSpPr/>
          <p:nvPr/>
        </p:nvSpPr>
        <p:spPr>
          <a:xfrm>
            <a:off x="3608772" y="0"/>
            <a:ext cx="665825" cy="5143500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17" name="Picture 16" descr="A black and white logo&#10;&#10;AI-generated content may be incorrect.">
            <a:extLst>
              <a:ext uri="{FF2B5EF4-FFF2-40B4-BE49-F238E27FC236}">
                <a16:creationId xmlns:a16="http://schemas.microsoft.com/office/drawing/2014/main" id="{DE7C5E8E-4142-47B1-ECD7-6C3172A3E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7621" y="-398105"/>
            <a:ext cx="6438900" cy="351472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4"/>
          <p:cNvSpPr txBox="1">
            <a:spLocks noGrp="1"/>
          </p:cNvSpPr>
          <p:nvPr>
            <p:ph type="ctrTitle"/>
          </p:nvPr>
        </p:nvSpPr>
        <p:spPr>
          <a:xfrm>
            <a:off x="1722268" y="229850"/>
            <a:ext cx="615252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4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Why</a:t>
            </a:r>
            <a:r>
              <a:rPr lang="en-US" sz="6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 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Display" panose="020B0004020202020204" pitchFamily="34" charset="0"/>
            </a:endParaRPr>
          </a:p>
        </p:txBody>
      </p:sp>
      <p:sp>
        <p:nvSpPr>
          <p:cNvPr id="361" name="Google Shape;361;p14"/>
          <p:cNvSpPr txBox="1"/>
          <p:nvPr/>
        </p:nvSpPr>
        <p:spPr>
          <a:xfrm>
            <a:off x="409575" y="1676400"/>
            <a:ext cx="2067000" cy="17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>
                <a:solidFill>
                  <a:srgbClr val="FFFFFF"/>
                </a:solidFill>
                <a:latin typeface="Nixie One"/>
                <a:ea typeface="Nixie One"/>
                <a:cs typeface="Nixie One"/>
                <a:sym typeface="Nixie One"/>
              </a:rPr>
              <a:t>1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8A22A1-0A50-F2FA-3B1E-A17254919042}"/>
              </a:ext>
            </a:extLst>
          </p:cNvPr>
          <p:cNvSpPr txBox="1"/>
          <p:nvPr/>
        </p:nvSpPr>
        <p:spPr>
          <a:xfrm>
            <a:off x="2919551" y="229850"/>
            <a:ext cx="492710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19BBD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CR-A-Seagull" pitchFamily="2" charset="0"/>
              </a:rPr>
              <a:t>HPCG is Important</a:t>
            </a:r>
            <a:endParaRPr lang="en-PK" sz="4400" dirty="0">
              <a:solidFill>
                <a:srgbClr val="19BBD5"/>
              </a:solidFill>
              <a:latin typeface="OCR-A-Seagull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A192775-8E8F-5051-9B42-7CF475FE6624}"/>
              </a:ext>
            </a:extLst>
          </p:cNvPr>
          <p:cNvGrpSpPr/>
          <p:nvPr/>
        </p:nvGrpSpPr>
        <p:grpSpPr>
          <a:xfrm>
            <a:off x="4054691" y="1045675"/>
            <a:ext cx="4989250" cy="2508107"/>
            <a:chOff x="4074850" y="63643"/>
            <a:chExt cx="4989250" cy="2508107"/>
          </a:xfrm>
        </p:grpSpPr>
        <p:sp>
          <p:nvSpPr>
            <p:cNvPr id="6" name="Google Shape;342;p12">
              <a:extLst>
                <a:ext uri="{FF2B5EF4-FFF2-40B4-BE49-F238E27FC236}">
                  <a16:creationId xmlns:a16="http://schemas.microsoft.com/office/drawing/2014/main" id="{F104FE48-9DF8-B3A2-D5CC-60135F91E39B}"/>
                </a:ext>
              </a:extLst>
            </p:cNvPr>
            <p:cNvSpPr txBox="1">
              <a:spLocks/>
            </p:cNvSpPr>
            <p:nvPr/>
          </p:nvSpPr>
          <p:spPr>
            <a:xfrm>
              <a:off x="4074850" y="63643"/>
              <a:ext cx="4989250" cy="25081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9BBD5"/>
                </a:buClr>
                <a:buSzPts val="4000"/>
                <a:buFont typeface="Nixie One"/>
                <a:buNone/>
                <a:defRPr sz="4000" b="0" i="0" u="none" strike="noStrike" cap="none">
                  <a:solidFill>
                    <a:srgbClr val="19BBD5"/>
                  </a:solidFill>
                  <a:latin typeface="Nixie One"/>
                  <a:ea typeface="Nixie One"/>
                  <a:cs typeface="Nixie One"/>
                  <a:sym typeface="Nixie One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9BBD5"/>
                </a:buClr>
                <a:buSzPts val="4000"/>
                <a:buFont typeface="Nixie One"/>
                <a:buNone/>
                <a:defRPr sz="4000" b="0" i="0" u="none" strike="noStrike" cap="none">
                  <a:solidFill>
                    <a:srgbClr val="19BBD5"/>
                  </a:solidFill>
                  <a:latin typeface="Nixie One"/>
                  <a:ea typeface="Nixie One"/>
                  <a:cs typeface="Nixie One"/>
                  <a:sym typeface="Nixie One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9BBD5"/>
                </a:buClr>
                <a:buSzPts val="4000"/>
                <a:buFont typeface="Nixie One"/>
                <a:buNone/>
                <a:defRPr sz="4000" b="0" i="0" u="none" strike="noStrike" cap="none">
                  <a:solidFill>
                    <a:srgbClr val="19BBD5"/>
                  </a:solidFill>
                  <a:latin typeface="Nixie One"/>
                  <a:ea typeface="Nixie One"/>
                  <a:cs typeface="Nixie One"/>
                  <a:sym typeface="Nixie One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9BBD5"/>
                </a:buClr>
                <a:buSzPts val="4000"/>
                <a:buFont typeface="Nixie One"/>
                <a:buNone/>
                <a:defRPr sz="4000" b="0" i="0" u="none" strike="noStrike" cap="none">
                  <a:solidFill>
                    <a:srgbClr val="19BBD5"/>
                  </a:solidFill>
                  <a:latin typeface="Nixie One"/>
                  <a:ea typeface="Nixie One"/>
                  <a:cs typeface="Nixie One"/>
                  <a:sym typeface="Nixie One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9BBD5"/>
                </a:buClr>
                <a:buSzPts val="4000"/>
                <a:buFont typeface="Nixie One"/>
                <a:buNone/>
                <a:defRPr sz="4000" b="0" i="0" u="none" strike="noStrike" cap="none">
                  <a:solidFill>
                    <a:srgbClr val="19BBD5"/>
                  </a:solidFill>
                  <a:latin typeface="Nixie One"/>
                  <a:ea typeface="Nixie One"/>
                  <a:cs typeface="Nixie One"/>
                  <a:sym typeface="Nixie One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9BBD5"/>
                </a:buClr>
                <a:buSzPts val="4000"/>
                <a:buFont typeface="Nixie One"/>
                <a:buNone/>
                <a:defRPr sz="4000" b="0" i="0" u="none" strike="noStrike" cap="none">
                  <a:solidFill>
                    <a:srgbClr val="19BBD5"/>
                  </a:solidFill>
                  <a:latin typeface="Nixie One"/>
                  <a:ea typeface="Nixie One"/>
                  <a:cs typeface="Nixie One"/>
                  <a:sym typeface="Nixie One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9BBD5"/>
                </a:buClr>
                <a:buSzPts val="4000"/>
                <a:buFont typeface="Nixie One"/>
                <a:buNone/>
                <a:defRPr sz="4000" b="0" i="0" u="none" strike="noStrike" cap="none">
                  <a:solidFill>
                    <a:srgbClr val="19BBD5"/>
                  </a:solidFill>
                  <a:latin typeface="Nixie One"/>
                  <a:ea typeface="Nixie One"/>
                  <a:cs typeface="Nixie One"/>
                  <a:sym typeface="Nixie One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9BBD5"/>
                </a:buClr>
                <a:buSzPts val="4000"/>
                <a:buFont typeface="Nixie One"/>
                <a:buNone/>
                <a:defRPr sz="4000" b="0" i="0" u="none" strike="noStrike" cap="none">
                  <a:solidFill>
                    <a:srgbClr val="19BBD5"/>
                  </a:solidFill>
                  <a:latin typeface="Nixie One"/>
                  <a:ea typeface="Nixie One"/>
                  <a:cs typeface="Nixie One"/>
                  <a:sym typeface="Nixie One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9BBD5"/>
                </a:buClr>
                <a:buSzPts val="4000"/>
                <a:buFont typeface="Nixie One"/>
                <a:buNone/>
                <a:defRPr sz="4000" b="0" i="0" u="none" strike="noStrike" cap="none">
                  <a:solidFill>
                    <a:srgbClr val="19BBD5"/>
                  </a:solidFill>
                  <a:latin typeface="Nixie One"/>
                  <a:ea typeface="Nixie One"/>
                  <a:cs typeface="Nixie One"/>
                  <a:sym typeface="Nixie One"/>
                </a:defRPr>
              </a:lvl9pPr>
            </a:lstStyle>
            <a:p>
              <a:pPr marL="285750" lvl="0" indent="-285750">
                <a:buSzPct val="100000"/>
                <a:buFont typeface="Wingdings" panose="05000000000000000000" pitchFamily="2" charset="2"/>
                <a:buChar char="q"/>
              </a:pPr>
              <a:r>
                <a:rPr lang="en-US" sz="2000" b="1" dirty="0"/>
                <a:t>Real reason applications use:</a:t>
              </a:r>
            </a:p>
            <a:p>
              <a:pPr marL="285750" lvl="0" indent="-285750">
                <a:buSzPct val="100000"/>
                <a:buFont typeface="Wingdings" panose="05000000000000000000" pitchFamily="2" charset="2"/>
                <a:buChar char="q"/>
              </a:pPr>
              <a:endParaRPr lang="en-PK" sz="2000" dirty="0"/>
            </a:p>
            <a:p>
              <a:pPr lvl="0">
                <a:buSzPct val="100000"/>
              </a:pPr>
              <a:endParaRPr lang="en-US" sz="2000" dirty="0"/>
            </a:p>
            <a:p>
              <a:pPr marL="285750" lvl="0" indent="-285750">
                <a:buFont typeface="Wingdings" panose="05000000000000000000" pitchFamily="2" charset="2"/>
                <a:buChar char="q"/>
              </a:pPr>
              <a:endParaRPr lang="en-US" sz="2000" dirty="0"/>
            </a:p>
            <a:p>
              <a:pPr marL="285750" lvl="0" indent="-285750">
                <a:buFont typeface="Wingdings" panose="05000000000000000000" pitchFamily="2" charset="2"/>
                <a:buChar char="q"/>
              </a:pPr>
              <a:endParaRPr lang="en-PK" sz="18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9B7C508-2696-6AA7-5D55-65E3B4398DAF}"/>
                </a:ext>
              </a:extLst>
            </p:cNvPr>
            <p:cNvSpPr txBox="1"/>
            <p:nvPr/>
          </p:nvSpPr>
          <p:spPr>
            <a:xfrm>
              <a:off x="5624355" y="1256187"/>
              <a:ext cx="3211135" cy="12926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lvl="1" indent="-285750">
                <a:buClr>
                  <a:srgbClr val="1BD8D5"/>
                </a:buClr>
                <a:buFont typeface="Wingdings" panose="05000000000000000000" pitchFamily="2" charset="2"/>
                <a:buChar char="§"/>
              </a:pPr>
              <a:r>
                <a:rPr lang="en-US" sz="1600" dirty="0">
                  <a:solidFill>
                    <a:srgbClr val="19BBD5"/>
                  </a:solidFill>
                  <a:latin typeface="Aptos Display" panose="020B0004020202020204" pitchFamily="34" charset="0"/>
                </a:rPr>
                <a:t>Memory access</a:t>
              </a:r>
              <a:endParaRPr lang="en-PK" sz="1600" dirty="0">
                <a:solidFill>
                  <a:srgbClr val="19BBD5"/>
                </a:solidFill>
                <a:latin typeface="Aptos Display" panose="020B0004020202020204" pitchFamily="34" charset="0"/>
              </a:endParaRPr>
            </a:p>
            <a:p>
              <a:pPr marL="285750" lvl="1" indent="-285750">
                <a:buClr>
                  <a:srgbClr val="1BD8D5"/>
                </a:buClr>
                <a:buFont typeface="Wingdings" panose="05000000000000000000" pitchFamily="2" charset="2"/>
                <a:buChar char="§"/>
              </a:pPr>
              <a:r>
                <a:rPr lang="en-US" sz="1600" dirty="0">
                  <a:solidFill>
                    <a:srgbClr val="19BBD5"/>
                  </a:solidFill>
                  <a:latin typeface="Aptos Display" panose="020B0004020202020204" pitchFamily="34" charset="0"/>
                </a:rPr>
                <a:t>Sparse computations</a:t>
              </a:r>
              <a:endParaRPr lang="en-PK" sz="1600" dirty="0">
                <a:solidFill>
                  <a:srgbClr val="19BBD5"/>
                </a:solidFill>
                <a:latin typeface="Aptos Display" panose="020B0004020202020204" pitchFamily="34" charset="0"/>
              </a:endParaRPr>
            </a:p>
            <a:p>
              <a:pPr marL="285750" lvl="1" indent="-285750">
                <a:buClr>
                  <a:srgbClr val="1BD8D5"/>
                </a:buClr>
                <a:buFont typeface="Wingdings" panose="05000000000000000000" pitchFamily="2" charset="2"/>
                <a:buChar char="§"/>
              </a:pPr>
              <a:r>
                <a:rPr lang="en-US" sz="1600" dirty="0">
                  <a:solidFill>
                    <a:srgbClr val="19BBD5"/>
                  </a:solidFill>
                  <a:latin typeface="Aptos Display" panose="020B0004020202020204" pitchFamily="34" charset="0"/>
                </a:rPr>
                <a:t>Iterative solvers</a:t>
              </a:r>
              <a:endParaRPr lang="en-PK" sz="1600" dirty="0">
                <a:solidFill>
                  <a:srgbClr val="19BBD5"/>
                </a:solidFill>
                <a:latin typeface="Aptos Display" panose="020B0004020202020204" pitchFamily="34" charset="0"/>
              </a:endParaRPr>
            </a:p>
            <a:p>
              <a:pPr marL="285750" lvl="0" indent="-285750">
                <a:buClr>
                  <a:srgbClr val="1BD8D5"/>
                </a:buClr>
                <a:buFont typeface="Wingdings" panose="05000000000000000000" pitchFamily="2" charset="2"/>
                <a:buChar char="§"/>
              </a:pPr>
              <a:r>
                <a:rPr lang="en-US" sz="1600" dirty="0">
                  <a:solidFill>
                    <a:srgbClr val="19BBD5"/>
                  </a:solidFill>
                  <a:latin typeface="Aptos Display" panose="020B0004020202020204" pitchFamily="34" charset="0"/>
                </a:rPr>
                <a:t>More realistic than HPL (</a:t>
              </a:r>
              <a:r>
                <a:rPr lang="en-US" sz="1600" dirty="0" err="1">
                  <a:solidFill>
                    <a:srgbClr val="19BBD5"/>
                  </a:solidFill>
                  <a:latin typeface="Aptos Display" panose="020B0004020202020204" pitchFamily="34" charset="0"/>
                </a:rPr>
                <a:t>Linpack</a:t>
              </a:r>
              <a:r>
                <a:rPr lang="en-US" sz="1600" dirty="0">
                  <a:solidFill>
                    <a:srgbClr val="19BBD5"/>
                  </a:solidFill>
                  <a:latin typeface="Aptos Display" panose="020B0004020202020204" pitchFamily="34" charset="0"/>
                </a:rPr>
                <a:t>)</a:t>
              </a:r>
              <a:endParaRPr lang="en-PK" sz="1600" dirty="0">
                <a:solidFill>
                  <a:srgbClr val="19BBD5"/>
                </a:solidFill>
                <a:latin typeface="Aptos Display" panose="020B0004020202020204" pitchFamily="34" charset="0"/>
              </a:endParaRPr>
            </a:p>
            <a:p>
              <a:endParaRPr lang="en-PK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22B0AB7-CE89-DCD0-9098-848805B6B7C2}"/>
              </a:ext>
            </a:extLst>
          </p:cNvPr>
          <p:cNvSpPr txBox="1"/>
          <p:nvPr/>
        </p:nvSpPr>
        <p:spPr>
          <a:xfrm>
            <a:off x="5573234" y="3850838"/>
            <a:ext cx="2305439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1" indent="-285750">
              <a:buClr>
                <a:srgbClr val="1BD8D5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19BBD5"/>
                </a:solidFill>
                <a:latin typeface="Aptos Display" panose="020B0004020202020204" pitchFamily="34" charset="0"/>
              </a:rPr>
              <a:t>Climate models</a:t>
            </a:r>
          </a:p>
          <a:p>
            <a:pPr marL="285750" lvl="1" indent="-285750">
              <a:buClr>
                <a:srgbClr val="1BD8D5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19BBD5"/>
                </a:solidFill>
                <a:latin typeface="Aptos Display" panose="020B0004020202020204" pitchFamily="34" charset="0"/>
              </a:rPr>
              <a:t>Structural simulations</a:t>
            </a:r>
          </a:p>
          <a:p>
            <a:pPr marL="285750" lvl="1" indent="-285750">
              <a:buClr>
                <a:srgbClr val="1BD8D5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19BBD5"/>
                </a:solidFill>
                <a:latin typeface="Aptos Display" panose="020B0004020202020204" pitchFamily="34" charset="0"/>
              </a:rPr>
              <a:t>CFD problems</a:t>
            </a:r>
            <a:endParaRPr lang="en-PK" sz="1600" dirty="0">
              <a:solidFill>
                <a:srgbClr val="19BBD5"/>
              </a:solidFill>
              <a:latin typeface="Aptos Display" panose="020B0004020202020204" pitchFamily="34" charset="0"/>
            </a:endParaRPr>
          </a:p>
          <a:p>
            <a:endParaRPr lang="en-PK" dirty="0"/>
          </a:p>
        </p:txBody>
      </p:sp>
      <p:sp>
        <p:nvSpPr>
          <p:cNvPr id="9" name="Google Shape;342;p12">
            <a:extLst>
              <a:ext uri="{FF2B5EF4-FFF2-40B4-BE49-F238E27FC236}">
                <a16:creationId xmlns:a16="http://schemas.microsoft.com/office/drawing/2014/main" id="{EDB1B84B-AB7D-2336-AB3B-6C82043F6FAF}"/>
              </a:ext>
            </a:extLst>
          </p:cNvPr>
          <p:cNvSpPr txBox="1">
            <a:spLocks/>
          </p:cNvSpPr>
          <p:nvPr/>
        </p:nvSpPr>
        <p:spPr>
          <a:xfrm>
            <a:off x="4054691" y="3977841"/>
            <a:ext cx="3498634" cy="1038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pPr marL="285750" lvl="0" indent="-285750">
              <a:buSzPct val="100000"/>
              <a:buFont typeface="Wingdings" panose="05000000000000000000" pitchFamily="2" charset="2"/>
              <a:buChar char="q"/>
            </a:pPr>
            <a:r>
              <a:rPr lang="en-US" sz="2000" b="1" dirty="0"/>
              <a:t>HPCG Simulates:</a:t>
            </a:r>
          </a:p>
          <a:p>
            <a:pPr marL="285750" lvl="0" indent="-285750">
              <a:buSzPct val="100000"/>
              <a:buFont typeface="Wingdings" panose="05000000000000000000" pitchFamily="2" charset="2"/>
              <a:buChar char="q"/>
            </a:pPr>
            <a:endParaRPr lang="en-PK" sz="2000" dirty="0"/>
          </a:p>
          <a:p>
            <a:pPr lvl="0">
              <a:buSzPct val="100000"/>
            </a:pPr>
            <a:endParaRPr lang="en-US" sz="2000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endParaRPr lang="en-PK" sz="1800" dirty="0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black circle with circles and dots&#10;&#10;AI-generated content may be incorrect.">
            <a:extLst>
              <a:ext uri="{FF2B5EF4-FFF2-40B4-BE49-F238E27FC236}">
                <a16:creationId xmlns:a16="http://schemas.microsoft.com/office/drawing/2014/main" id="{D1DD3DE1-A1AE-7DD1-B413-2CEE29373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4512" y="0"/>
            <a:ext cx="4367213" cy="28432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1396358-5A65-296E-1F5C-7EF5F6C8CA8D}"/>
              </a:ext>
            </a:extLst>
          </p:cNvPr>
          <p:cNvSpPr txBox="1"/>
          <p:nvPr/>
        </p:nvSpPr>
        <p:spPr>
          <a:xfrm>
            <a:off x="1976576" y="391775"/>
            <a:ext cx="492710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19BBD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CR-A-Seagull" pitchFamily="2" charset="0"/>
              </a:rPr>
              <a:t>Main Kernels in HPCG</a:t>
            </a:r>
            <a:endParaRPr lang="en-PK" sz="4400" dirty="0">
              <a:solidFill>
                <a:srgbClr val="19BBD5"/>
              </a:solidFill>
              <a:latin typeface="OCR-A-Seagull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4B8F95-10DB-C406-D3BE-1DEE7ECC67B8}"/>
              </a:ext>
            </a:extLst>
          </p:cNvPr>
          <p:cNvSpPr txBox="1"/>
          <p:nvPr/>
        </p:nvSpPr>
        <p:spPr>
          <a:xfrm>
            <a:off x="1976576" y="2247900"/>
            <a:ext cx="701664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19BBD5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400" b="1" dirty="0" err="1">
                <a:solidFill>
                  <a:srgbClr val="19BBD5"/>
                </a:solidFill>
              </a:rPr>
              <a:t>SpMV</a:t>
            </a:r>
            <a:r>
              <a:rPr lang="en-US" sz="2400" b="1" dirty="0">
                <a:solidFill>
                  <a:srgbClr val="19BBD5"/>
                </a:solidFill>
              </a:rPr>
              <a:t> (Sparse Matrix-Vector Multiplication)</a:t>
            </a:r>
          </a:p>
          <a:p>
            <a:pPr marL="285750" indent="-285750">
              <a:buClr>
                <a:srgbClr val="19BBD5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400" b="1" dirty="0" err="1">
                <a:solidFill>
                  <a:srgbClr val="19BBD5"/>
                </a:solidFill>
              </a:rPr>
              <a:t>SymGS</a:t>
            </a:r>
            <a:r>
              <a:rPr lang="en-US" sz="2400" b="1" dirty="0">
                <a:solidFill>
                  <a:srgbClr val="19BBD5"/>
                </a:solidFill>
              </a:rPr>
              <a:t>(Symmetric Gauss-Seidel)</a:t>
            </a:r>
          </a:p>
          <a:p>
            <a:pPr marL="285750" indent="-285750">
              <a:buClr>
                <a:srgbClr val="19BBD5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19BBD5"/>
                </a:solidFill>
              </a:rPr>
              <a:t>Multigrid(MG.)</a:t>
            </a:r>
          </a:p>
          <a:p>
            <a:pPr marL="285750" indent="-285750">
              <a:buClr>
                <a:srgbClr val="19BBD5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19BBD5"/>
                </a:solidFill>
              </a:rPr>
              <a:t>Dot Product</a:t>
            </a:r>
          </a:p>
          <a:p>
            <a:pPr marL="285750" indent="-285750">
              <a:buClr>
                <a:srgbClr val="19BBD5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19BBD5"/>
                </a:solidFill>
              </a:rPr>
              <a:t>Vector Updates(WAXPBY)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2"/>
          <p:cNvSpPr/>
          <p:nvPr/>
        </p:nvSpPr>
        <p:spPr>
          <a:xfrm>
            <a:off x="3195311" y="1727675"/>
            <a:ext cx="2414700" cy="2091900"/>
          </a:xfrm>
          <a:prstGeom prst="hexagon">
            <a:avLst>
              <a:gd name="adj" fmla="val 29110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rPr>
              <a:t>Memory Bandwidth limited</a:t>
            </a:r>
            <a:endParaRPr b="1" dirty="0">
              <a:solidFill>
                <a:srgbClr val="C6DAEC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430" name="Google Shape;430;p22"/>
          <p:cNvSpPr txBox="1">
            <a:spLocks noGrp="1"/>
          </p:cNvSpPr>
          <p:nvPr>
            <p:ph type="title" idx="4294967295"/>
          </p:nvPr>
        </p:nvSpPr>
        <p:spPr>
          <a:xfrm>
            <a:off x="1399325" y="554938"/>
            <a:ext cx="6668350" cy="64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Why we selected SpMV</a:t>
            </a:r>
            <a:endParaRPr dirty="0"/>
          </a:p>
        </p:txBody>
      </p:sp>
      <p:sp>
        <p:nvSpPr>
          <p:cNvPr id="431" name="Google Shape;431;p22"/>
          <p:cNvSpPr/>
          <p:nvPr/>
        </p:nvSpPr>
        <p:spPr>
          <a:xfrm>
            <a:off x="1228725" y="1727675"/>
            <a:ext cx="2509100" cy="2091900"/>
          </a:xfrm>
          <a:prstGeom prst="hexagon">
            <a:avLst>
              <a:gd name="adj" fmla="val 29110"/>
              <a:gd name="vf" fmla="val 115470"/>
            </a:avLst>
          </a:prstGeom>
          <a:noFill/>
          <a:ln w="9525" cap="flat" cmpd="sng">
            <a:solidFill>
              <a:srgbClr val="19BBD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19BBD5"/>
                </a:solidFill>
                <a:latin typeface="Aptos Display" panose="020B0004020202020204" pitchFamily="34" charset="0"/>
                <a:ea typeface="Muli"/>
                <a:cs typeface="Muli"/>
                <a:sym typeface="Muli"/>
              </a:rPr>
              <a:t>Most time consuming Kernel</a:t>
            </a:r>
            <a:endParaRPr sz="2400" b="1" dirty="0">
              <a:solidFill>
                <a:srgbClr val="19BBD5"/>
              </a:solidFill>
              <a:latin typeface="Aptos Display" panose="020B0004020202020204" pitchFamily="34" charset="0"/>
              <a:ea typeface="Muli"/>
              <a:cs typeface="Muli"/>
              <a:sym typeface="Muli"/>
            </a:endParaRPr>
          </a:p>
        </p:txBody>
      </p:sp>
      <p:sp>
        <p:nvSpPr>
          <p:cNvPr id="432" name="Google Shape;432;p22"/>
          <p:cNvSpPr/>
          <p:nvPr/>
        </p:nvSpPr>
        <p:spPr>
          <a:xfrm>
            <a:off x="5067497" y="1727675"/>
            <a:ext cx="2414700" cy="2091900"/>
          </a:xfrm>
          <a:prstGeom prst="hexagon">
            <a:avLst>
              <a:gd name="adj" fmla="val 29110"/>
              <a:gd name="vf" fmla="val 115470"/>
            </a:avLst>
          </a:prstGeom>
          <a:noFill/>
          <a:ln w="9525" cap="flat" cmpd="sng">
            <a:solidFill>
              <a:srgbClr val="19BBD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19BBD5"/>
                </a:solidFill>
                <a:latin typeface="Aptos Display" panose="020B0004020202020204" pitchFamily="34" charset="0"/>
                <a:ea typeface="Muli"/>
                <a:cs typeface="Muli"/>
                <a:sym typeface="Muli"/>
              </a:rPr>
              <a:t>Appears in every CG iteration</a:t>
            </a:r>
            <a:endParaRPr sz="2400" b="1" dirty="0">
              <a:solidFill>
                <a:srgbClr val="19BBD5"/>
              </a:solidFill>
              <a:latin typeface="Aptos Display" panose="020B0004020202020204" pitchFamily="34" charset="0"/>
              <a:ea typeface="Muli"/>
              <a:cs typeface="Muli"/>
              <a:sym typeface="Muli"/>
            </a:endParaRPr>
          </a:p>
        </p:txBody>
      </p:sp>
      <p:sp>
        <p:nvSpPr>
          <p:cNvPr id="2" name="Google Shape;430;p22">
            <a:extLst>
              <a:ext uri="{FF2B5EF4-FFF2-40B4-BE49-F238E27FC236}">
                <a16:creationId xmlns:a16="http://schemas.microsoft.com/office/drawing/2014/main" id="{04F67FF8-E2B7-2427-9586-31087FC2136C}"/>
              </a:ext>
            </a:extLst>
          </p:cNvPr>
          <p:cNvSpPr txBox="1">
            <a:spLocks/>
          </p:cNvSpPr>
          <p:nvPr/>
        </p:nvSpPr>
        <p:spPr>
          <a:xfrm>
            <a:off x="1521250" y="4140225"/>
            <a:ext cx="6668350" cy="6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pPr algn="r"/>
            <a:r>
              <a:rPr lang="en-US" sz="2000" b="1" dirty="0">
                <a:latin typeface="Aptos Display" panose="020B0004020202020204" pitchFamily="34" charset="0"/>
              </a:rPr>
              <a:t>Small Improvements bring</a:t>
            </a:r>
          </a:p>
          <a:p>
            <a:pPr algn="r"/>
            <a:r>
              <a:rPr lang="en-US" sz="2000" b="1" dirty="0">
                <a:latin typeface="Aptos Display" panose="020B0004020202020204" pitchFamily="34" charset="0"/>
              </a:rPr>
              <a:t>meaningful Impacts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cube with many squares&#10;&#10;AI-generated content may be incorrect.">
            <a:extLst>
              <a:ext uri="{FF2B5EF4-FFF2-40B4-BE49-F238E27FC236}">
                <a16:creationId xmlns:a16="http://schemas.microsoft.com/office/drawing/2014/main" id="{4C1AC5AC-D2E6-2E7D-A196-62FC990B3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26" y="3174948"/>
            <a:ext cx="2508953" cy="1649555"/>
          </a:xfrm>
          <a:prstGeom prst="rect">
            <a:avLst/>
          </a:prstGeom>
        </p:spPr>
      </p:pic>
      <p:sp>
        <p:nvSpPr>
          <p:cNvPr id="477" name="Google Shape;477;p27"/>
          <p:cNvSpPr txBox="1">
            <a:spLocks noGrp="1"/>
          </p:cNvSpPr>
          <p:nvPr>
            <p:ph type="title"/>
          </p:nvPr>
        </p:nvSpPr>
        <p:spPr>
          <a:xfrm>
            <a:off x="1732700" y="498549"/>
            <a:ext cx="4944300" cy="64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Our process is easy</a:t>
            </a:r>
            <a:endParaRPr dirty="0"/>
          </a:p>
        </p:txBody>
      </p:sp>
      <p:sp>
        <p:nvSpPr>
          <p:cNvPr id="478" name="Google Shape;478;p27"/>
          <p:cNvSpPr/>
          <p:nvPr/>
        </p:nvSpPr>
        <p:spPr>
          <a:xfrm>
            <a:off x="3959395" y="1333990"/>
            <a:ext cx="1946100" cy="1325100"/>
          </a:xfrm>
          <a:prstGeom prst="homePlate">
            <a:avLst>
              <a:gd name="adj" fmla="val 30129"/>
            </a:avLst>
          </a:prstGeom>
          <a:noFill/>
          <a:ln w="114300" cap="flat" cmpd="sng">
            <a:solidFill>
              <a:srgbClr val="00E1C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" dirty="0">
                <a:solidFill>
                  <a:srgbClr val="00E1C6"/>
                </a:solidFill>
                <a:latin typeface="Muli"/>
                <a:ea typeface="Muli"/>
                <a:cs typeface="Muli"/>
                <a:sym typeface="Muli"/>
              </a:rPr>
              <a:t> </a:t>
            </a:r>
            <a:r>
              <a:rPr lang="en" sz="7200" dirty="0">
                <a:solidFill>
                  <a:srgbClr val="00E1C6"/>
                </a:solidFill>
                <a:latin typeface="Muli"/>
                <a:ea typeface="Muli"/>
                <a:cs typeface="Muli"/>
                <a:sym typeface="Muli"/>
              </a:rPr>
              <a:t>=</a:t>
            </a:r>
            <a:endParaRPr sz="7200" dirty="0">
              <a:solidFill>
                <a:srgbClr val="00E1C6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479" name="Google Shape;479;p27"/>
          <p:cNvSpPr/>
          <p:nvPr/>
        </p:nvSpPr>
        <p:spPr>
          <a:xfrm>
            <a:off x="5228752" y="1333990"/>
            <a:ext cx="1983600" cy="1325100"/>
          </a:xfrm>
          <a:prstGeom prst="chevron">
            <a:avLst>
              <a:gd name="adj" fmla="val 29853"/>
            </a:avLst>
          </a:prstGeom>
          <a:noFill/>
          <a:ln w="114300" cap="flat" cmpd="sng">
            <a:solidFill>
              <a:srgbClr val="19BBD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rgbClr val="19BBD5"/>
                </a:solidFill>
                <a:latin typeface="Muli"/>
                <a:ea typeface="Muli"/>
                <a:cs typeface="Muli"/>
                <a:sym typeface="Muli"/>
              </a:rPr>
              <a:t>A</a:t>
            </a:r>
            <a:endParaRPr sz="5000" dirty="0">
              <a:solidFill>
                <a:srgbClr val="19BBD5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480" name="Google Shape;480;p27"/>
          <p:cNvSpPr/>
          <p:nvPr/>
        </p:nvSpPr>
        <p:spPr>
          <a:xfrm>
            <a:off x="6995339" y="1339265"/>
            <a:ext cx="1983600" cy="1325100"/>
          </a:xfrm>
          <a:prstGeom prst="chevron">
            <a:avLst>
              <a:gd name="adj" fmla="val 29853"/>
            </a:avLst>
          </a:prstGeom>
          <a:noFill/>
          <a:ln w="114300" cap="flat" cmpd="sng">
            <a:solidFill>
              <a:srgbClr val="3292E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rgbClr val="3292E1"/>
                </a:solidFill>
                <a:latin typeface="Muli"/>
                <a:ea typeface="Muli"/>
                <a:cs typeface="Muli"/>
                <a:sym typeface="Muli"/>
              </a:rPr>
              <a:t>x</a:t>
            </a:r>
            <a:endParaRPr sz="5000" dirty="0">
              <a:solidFill>
                <a:srgbClr val="3292E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3" name="Google Shape;430;p22">
            <a:extLst>
              <a:ext uri="{FF2B5EF4-FFF2-40B4-BE49-F238E27FC236}">
                <a16:creationId xmlns:a16="http://schemas.microsoft.com/office/drawing/2014/main" id="{FB163E67-ADB7-8D5E-E36E-A4069C0B8E01}"/>
              </a:ext>
            </a:extLst>
          </p:cNvPr>
          <p:cNvSpPr txBox="1">
            <a:spLocks/>
          </p:cNvSpPr>
          <p:nvPr/>
        </p:nvSpPr>
        <p:spPr>
          <a:xfrm>
            <a:off x="2997027" y="2042616"/>
            <a:ext cx="834893" cy="6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r>
              <a:rPr lang="en-US" sz="8000" dirty="0"/>
              <a:t>Y</a:t>
            </a:r>
          </a:p>
        </p:txBody>
      </p:sp>
      <p:sp>
        <p:nvSpPr>
          <p:cNvPr id="4" name="Google Shape;477;p27">
            <a:extLst>
              <a:ext uri="{FF2B5EF4-FFF2-40B4-BE49-F238E27FC236}">
                <a16:creationId xmlns:a16="http://schemas.microsoft.com/office/drawing/2014/main" id="{C434B32B-DAE7-7D60-0B6C-D1F74764A26C}"/>
              </a:ext>
            </a:extLst>
          </p:cNvPr>
          <p:cNvSpPr txBox="1">
            <a:spLocks/>
          </p:cNvSpPr>
          <p:nvPr/>
        </p:nvSpPr>
        <p:spPr>
          <a:xfrm>
            <a:off x="3396758" y="2687916"/>
            <a:ext cx="3330275" cy="6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r>
              <a:rPr lang="en-US" sz="2000" dirty="0"/>
              <a:t>Sparse Matrix</a:t>
            </a:r>
          </a:p>
        </p:txBody>
      </p:sp>
      <p:sp>
        <p:nvSpPr>
          <p:cNvPr id="5" name="Google Shape;477;p27">
            <a:extLst>
              <a:ext uri="{FF2B5EF4-FFF2-40B4-BE49-F238E27FC236}">
                <a16:creationId xmlns:a16="http://schemas.microsoft.com/office/drawing/2014/main" id="{44ACCE92-7F68-5A79-A9A3-96968BDC7037}"/>
              </a:ext>
            </a:extLst>
          </p:cNvPr>
          <p:cNvSpPr txBox="1">
            <a:spLocks/>
          </p:cNvSpPr>
          <p:nvPr/>
        </p:nvSpPr>
        <p:spPr>
          <a:xfrm>
            <a:off x="5355912" y="2687916"/>
            <a:ext cx="3330275" cy="6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r>
              <a:rPr lang="en-US" sz="2000" dirty="0"/>
              <a:t>Input Vector</a:t>
            </a:r>
          </a:p>
        </p:txBody>
      </p:sp>
      <p:sp>
        <p:nvSpPr>
          <p:cNvPr id="6" name="Google Shape;477;p27">
            <a:extLst>
              <a:ext uri="{FF2B5EF4-FFF2-40B4-BE49-F238E27FC236}">
                <a16:creationId xmlns:a16="http://schemas.microsoft.com/office/drawing/2014/main" id="{F4B95EDA-FAA7-CA19-1123-9F79A078C549}"/>
              </a:ext>
            </a:extLst>
          </p:cNvPr>
          <p:cNvSpPr txBox="1">
            <a:spLocks/>
          </p:cNvSpPr>
          <p:nvPr/>
        </p:nvSpPr>
        <p:spPr>
          <a:xfrm>
            <a:off x="6995339" y="2682641"/>
            <a:ext cx="3330275" cy="6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r>
              <a:rPr lang="en-US" sz="2000" dirty="0"/>
              <a:t>Output Vector</a:t>
            </a:r>
          </a:p>
        </p:txBody>
      </p:sp>
      <p:sp>
        <p:nvSpPr>
          <p:cNvPr id="9" name="Google Shape;477;p27">
            <a:extLst>
              <a:ext uri="{FF2B5EF4-FFF2-40B4-BE49-F238E27FC236}">
                <a16:creationId xmlns:a16="http://schemas.microsoft.com/office/drawing/2014/main" id="{0F272E41-DB0A-8C11-2E9A-F064B4005B01}"/>
              </a:ext>
            </a:extLst>
          </p:cNvPr>
          <p:cNvSpPr txBox="1">
            <a:spLocks/>
          </p:cNvSpPr>
          <p:nvPr/>
        </p:nvSpPr>
        <p:spPr>
          <a:xfrm>
            <a:off x="2327980" y="3513925"/>
            <a:ext cx="4944300" cy="6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r>
              <a:rPr lang="en-US" sz="1800" dirty="0" err="1"/>
              <a:t>SpMV</a:t>
            </a:r>
            <a:r>
              <a:rPr lang="en-US" sz="1800" dirty="0"/>
              <a:t> </a:t>
            </a:r>
            <a:r>
              <a:rPr lang="en-US" sz="1800" dirty="0" err="1"/>
              <a:t>multipies</a:t>
            </a:r>
            <a:r>
              <a:rPr lang="en-US" sz="1800" dirty="0"/>
              <a:t> a sparse matrix</a:t>
            </a:r>
          </a:p>
          <a:p>
            <a:r>
              <a:rPr lang="en-US" sz="1800" dirty="0"/>
              <a:t>with a vector, which is the core operation</a:t>
            </a:r>
          </a:p>
          <a:p>
            <a:r>
              <a:rPr lang="en-US" sz="1800" dirty="0"/>
              <a:t>in the CG solver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8"/>
          <p:cNvSpPr txBox="1">
            <a:spLocks noGrp="1"/>
          </p:cNvSpPr>
          <p:nvPr>
            <p:ph type="title" idx="4294967295"/>
          </p:nvPr>
        </p:nvSpPr>
        <p:spPr>
          <a:xfrm>
            <a:off x="1273677" y="436420"/>
            <a:ext cx="6771825" cy="70468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Our Optimisation Strategy</a:t>
            </a:r>
            <a:endParaRPr sz="4400" dirty="0"/>
          </a:p>
        </p:txBody>
      </p:sp>
      <p:sp>
        <p:nvSpPr>
          <p:cNvPr id="487" name="Google Shape;487;p28"/>
          <p:cNvSpPr/>
          <p:nvPr/>
        </p:nvSpPr>
        <p:spPr>
          <a:xfrm>
            <a:off x="1909083" y="4225166"/>
            <a:ext cx="848400" cy="625500"/>
          </a:xfrm>
          <a:prstGeom prst="ellipse">
            <a:avLst/>
          </a:prstGeom>
          <a:solidFill>
            <a:srgbClr val="FFFFFF">
              <a:alpha val="98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8"/>
          <p:cNvSpPr/>
          <p:nvPr/>
        </p:nvSpPr>
        <p:spPr>
          <a:xfrm>
            <a:off x="1313395" y="2782935"/>
            <a:ext cx="2032200" cy="550500"/>
          </a:xfrm>
          <a:prstGeom prst="ellipse">
            <a:avLst/>
          </a:prstGeom>
          <a:gradFill>
            <a:gsLst>
              <a:gs pos="0">
                <a:srgbClr val="1ED7BE">
                  <a:alpha val="9803"/>
                </a:srgbClr>
              </a:gs>
              <a:gs pos="80000">
                <a:srgbClr val="1BC5C5">
                  <a:alpha val="9803"/>
                </a:srgbClr>
              </a:gs>
              <a:gs pos="100000">
                <a:srgbClr val="1CD9BD">
                  <a:alpha val="9803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8"/>
          <p:cNvSpPr/>
          <p:nvPr/>
        </p:nvSpPr>
        <p:spPr>
          <a:xfrm>
            <a:off x="932744" y="2167252"/>
            <a:ext cx="2776800" cy="598800"/>
          </a:xfrm>
          <a:prstGeom prst="ellipse">
            <a:avLst/>
          </a:prstGeom>
          <a:solidFill>
            <a:srgbClr val="FFFFFF">
              <a:alpha val="98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8"/>
          <p:cNvSpPr/>
          <p:nvPr/>
        </p:nvSpPr>
        <p:spPr>
          <a:xfrm>
            <a:off x="1807373" y="3866671"/>
            <a:ext cx="1048500" cy="403500"/>
          </a:xfrm>
          <a:prstGeom prst="ellipse">
            <a:avLst/>
          </a:prstGeom>
          <a:solidFill>
            <a:srgbClr val="FFFFFF">
              <a:alpha val="98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8"/>
          <p:cNvSpPr/>
          <p:nvPr/>
        </p:nvSpPr>
        <p:spPr>
          <a:xfrm rot="10800000">
            <a:off x="1656857" y="3789920"/>
            <a:ext cx="1334700" cy="491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03533" y="25191"/>
                </a:moveTo>
                <a:lnTo>
                  <a:pt x="16113" y="25191"/>
                </a:lnTo>
                <a:lnTo>
                  <a:pt x="16468" y="24492"/>
                </a:lnTo>
                <a:cubicBezTo>
                  <a:pt x="24817" y="9903"/>
                  <a:pt x="41101" y="0"/>
                  <a:pt x="59823" y="0"/>
                </a:cubicBezTo>
                <a:cubicBezTo>
                  <a:pt x="78544" y="0"/>
                  <a:pt x="94829" y="9903"/>
                  <a:pt x="103178" y="24492"/>
                </a:cubicBezTo>
                <a:lnTo>
                  <a:pt x="103533" y="25191"/>
                </a:lnTo>
                <a:close/>
                <a:moveTo>
                  <a:pt x="0" y="120000"/>
                </a:moveTo>
                <a:lnTo>
                  <a:pt x="15886" y="25191"/>
                </a:lnTo>
                <a:lnTo>
                  <a:pt x="103500" y="25191"/>
                </a:lnTo>
                <a:lnTo>
                  <a:pt x="120000" y="119286"/>
                </a:lnTo>
                <a:lnTo>
                  <a:pt x="119385" y="119290"/>
                </a:lnTo>
                <a:lnTo>
                  <a:pt x="115298" y="112860"/>
                </a:lnTo>
                <a:cubicBezTo>
                  <a:pt x="103296" y="97691"/>
                  <a:pt x="82971" y="85119"/>
                  <a:pt x="59918" y="87052"/>
                </a:cubicBezTo>
                <a:cubicBezTo>
                  <a:pt x="36865" y="88984"/>
                  <a:pt x="16540" y="97691"/>
                  <a:pt x="4538" y="112860"/>
                </a:cubicBez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1ED7BE">
                  <a:alpha val="74901"/>
                </a:srgbClr>
              </a:gs>
              <a:gs pos="75000">
                <a:srgbClr val="1BC5C5">
                  <a:alpha val="74901"/>
                </a:srgbClr>
              </a:gs>
              <a:gs pos="100000">
                <a:srgbClr val="1CD9BD">
                  <a:alpha val="74901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8"/>
          <p:cNvSpPr/>
          <p:nvPr/>
        </p:nvSpPr>
        <p:spPr>
          <a:xfrm>
            <a:off x="1611333" y="3353313"/>
            <a:ext cx="1446000" cy="523200"/>
          </a:xfrm>
          <a:prstGeom prst="ellipse">
            <a:avLst/>
          </a:prstGeom>
          <a:solidFill>
            <a:srgbClr val="FFFFFF">
              <a:alpha val="98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8"/>
          <p:cNvSpPr/>
          <p:nvPr/>
        </p:nvSpPr>
        <p:spPr>
          <a:xfrm rot="10800000">
            <a:off x="1406725" y="3237269"/>
            <a:ext cx="1837800" cy="63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03533" y="25191"/>
                </a:moveTo>
                <a:lnTo>
                  <a:pt x="16113" y="25191"/>
                </a:lnTo>
                <a:lnTo>
                  <a:pt x="16468" y="24492"/>
                </a:lnTo>
                <a:cubicBezTo>
                  <a:pt x="24817" y="9903"/>
                  <a:pt x="41101" y="0"/>
                  <a:pt x="59823" y="0"/>
                </a:cubicBezTo>
                <a:cubicBezTo>
                  <a:pt x="78544" y="0"/>
                  <a:pt x="94829" y="9903"/>
                  <a:pt x="103178" y="24492"/>
                </a:cubicBezTo>
                <a:lnTo>
                  <a:pt x="103533" y="25191"/>
                </a:lnTo>
                <a:close/>
                <a:moveTo>
                  <a:pt x="0" y="120000"/>
                </a:moveTo>
                <a:lnTo>
                  <a:pt x="15886" y="25191"/>
                </a:lnTo>
                <a:lnTo>
                  <a:pt x="103500" y="25191"/>
                </a:lnTo>
                <a:lnTo>
                  <a:pt x="120000" y="119286"/>
                </a:lnTo>
                <a:lnTo>
                  <a:pt x="119385" y="119290"/>
                </a:lnTo>
                <a:lnTo>
                  <a:pt x="115298" y="112860"/>
                </a:lnTo>
                <a:cubicBezTo>
                  <a:pt x="103296" y="97691"/>
                  <a:pt x="64135" y="93695"/>
                  <a:pt x="60529" y="93738"/>
                </a:cubicBezTo>
                <a:cubicBezTo>
                  <a:pt x="45054" y="93837"/>
                  <a:pt x="41994" y="92997"/>
                  <a:pt x="31663" y="96697"/>
                </a:cubicBezTo>
                <a:cubicBezTo>
                  <a:pt x="21331" y="100396"/>
                  <a:pt x="13050" y="106171"/>
                  <a:pt x="0" y="120000"/>
                </a:cubicBezTo>
                <a:close/>
              </a:path>
            </a:pathLst>
          </a:custGeom>
          <a:gradFill>
            <a:gsLst>
              <a:gs pos="0">
                <a:srgbClr val="1ED7BE">
                  <a:alpha val="74901"/>
                </a:srgbClr>
              </a:gs>
              <a:gs pos="75000">
                <a:srgbClr val="1BC5C5">
                  <a:alpha val="74901"/>
                </a:srgbClr>
              </a:gs>
              <a:gs pos="100000">
                <a:srgbClr val="1CD9BD">
                  <a:alpha val="74901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8"/>
          <p:cNvSpPr/>
          <p:nvPr/>
        </p:nvSpPr>
        <p:spPr>
          <a:xfrm>
            <a:off x="953685" y="2117637"/>
            <a:ext cx="2716800" cy="66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cubicBezTo>
                  <a:pt x="93137" y="0"/>
                  <a:pt x="120000" y="27671"/>
                  <a:pt x="120000" y="61804"/>
                </a:cubicBezTo>
                <a:cubicBezTo>
                  <a:pt x="120000" y="87405"/>
                  <a:pt x="104889" y="109370"/>
                  <a:pt x="83354" y="118752"/>
                </a:cubicBezTo>
                <a:lnTo>
                  <a:pt x="79454" y="120000"/>
                </a:lnTo>
                <a:lnTo>
                  <a:pt x="76579" y="118085"/>
                </a:lnTo>
                <a:cubicBezTo>
                  <a:pt x="71483" y="115441"/>
                  <a:pt x="65881" y="113979"/>
                  <a:pt x="59999" y="113979"/>
                </a:cubicBezTo>
                <a:cubicBezTo>
                  <a:pt x="54118" y="113979"/>
                  <a:pt x="48516" y="115441"/>
                  <a:pt x="43420" y="118085"/>
                </a:cubicBezTo>
                <a:lnTo>
                  <a:pt x="40545" y="120000"/>
                </a:lnTo>
                <a:lnTo>
                  <a:pt x="36645" y="118752"/>
                </a:lnTo>
                <a:cubicBezTo>
                  <a:pt x="15110" y="109370"/>
                  <a:pt x="0" y="87405"/>
                  <a:pt x="0" y="61804"/>
                </a:cubicBezTo>
                <a:cubicBezTo>
                  <a:pt x="0" y="27671"/>
                  <a:pt x="26862" y="0"/>
                  <a:pt x="60000" y="0"/>
                </a:cubicBezTo>
                <a:close/>
              </a:path>
            </a:pathLst>
          </a:custGeom>
          <a:gradFill>
            <a:gsLst>
              <a:gs pos="0">
                <a:srgbClr val="1ED7BE">
                  <a:alpha val="9803"/>
                </a:srgbClr>
              </a:gs>
              <a:gs pos="80000">
                <a:srgbClr val="1BC5C5">
                  <a:alpha val="9803"/>
                </a:srgbClr>
              </a:gs>
              <a:gs pos="100000">
                <a:srgbClr val="1CD9BD">
                  <a:alpha val="9803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8"/>
          <p:cNvSpPr/>
          <p:nvPr/>
        </p:nvSpPr>
        <p:spPr>
          <a:xfrm rot="10800000">
            <a:off x="534968" y="2035185"/>
            <a:ext cx="3534600" cy="730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03533" y="25191"/>
                </a:moveTo>
                <a:lnTo>
                  <a:pt x="16113" y="25191"/>
                </a:lnTo>
                <a:lnTo>
                  <a:pt x="16468" y="24492"/>
                </a:lnTo>
                <a:cubicBezTo>
                  <a:pt x="24817" y="9903"/>
                  <a:pt x="41101" y="0"/>
                  <a:pt x="59823" y="0"/>
                </a:cubicBezTo>
                <a:cubicBezTo>
                  <a:pt x="78544" y="0"/>
                  <a:pt x="94829" y="9903"/>
                  <a:pt x="103178" y="24492"/>
                </a:cubicBezTo>
                <a:lnTo>
                  <a:pt x="103533" y="25191"/>
                </a:lnTo>
                <a:close/>
                <a:moveTo>
                  <a:pt x="0" y="120000"/>
                </a:moveTo>
                <a:lnTo>
                  <a:pt x="15886" y="25191"/>
                </a:lnTo>
                <a:lnTo>
                  <a:pt x="103500" y="25191"/>
                </a:lnTo>
                <a:lnTo>
                  <a:pt x="120000" y="119286"/>
                </a:lnTo>
                <a:lnTo>
                  <a:pt x="119385" y="119290"/>
                </a:lnTo>
                <a:lnTo>
                  <a:pt x="115298" y="112860"/>
                </a:lnTo>
                <a:cubicBezTo>
                  <a:pt x="103296" y="97691"/>
                  <a:pt x="82971" y="78054"/>
                  <a:pt x="59918" y="79987"/>
                </a:cubicBezTo>
                <a:cubicBezTo>
                  <a:pt x="36865" y="81920"/>
                  <a:pt x="16540" y="97691"/>
                  <a:pt x="4538" y="112860"/>
                </a:cubicBez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1ED7BE">
                  <a:alpha val="74901"/>
                </a:srgbClr>
              </a:gs>
              <a:gs pos="75000">
                <a:srgbClr val="1BC5C5">
                  <a:alpha val="74901"/>
                </a:srgbClr>
              </a:gs>
              <a:gs pos="100000">
                <a:srgbClr val="1CD9BD">
                  <a:alpha val="74901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8"/>
          <p:cNvSpPr/>
          <p:nvPr/>
        </p:nvSpPr>
        <p:spPr>
          <a:xfrm rot="10800000">
            <a:off x="1028588" y="2640464"/>
            <a:ext cx="2589000" cy="69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03533" y="25191"/>
                </a:moveTo>
                <a:lnTo>
                  <a:pt x="16113" y="25191"/>
                </a:lnTo>
                <a:lnTo>
                  <a:pt x="16468" y="24492"/>
                </a:lnTo>
                <a:cubicBezTo>
                  <a:pt x="24817" y="9903"/>
                  <a:pt x="41101" y="0"/>
                  <a:pt x="59823" y="0"/>
                </a:cubicBezTo>
                <a:cubicBezTo>
                  <a:pt x="78544" y="0"/>
                  <a:pt x="94829" y="9903"/>
                  <a:pt x="103178" y="24492"/>
                </a:cubicBezTo>
                <a:lnTo>
                  <a:pt x="103533" y="25191"/>
                </a:lnTo>
                <a:close/>
                <a:moveTo>
                  <a:pt x="0" y="120000"/>
                </a:moveTo>
                <a:lnTo>
                  <a:pt x="15886" y="25191"/>
                </a:lnTo>
                <a:lnTo>
                  <a:pt x="103500" y="25191"/>
                </a:lnTo>
                <a:lnTo>
                  <a:pt x="120000" y="119286"/>
                </a:lnTo>
                <a:lnTo>
                  <a:pt x="119385" y="119290"/>
                </a:lnTo>
                <a:lnTo>
                  <a:pt x="115298" y="112860"/>
                </a:lnTo>
                <a:cubicBezTo>
                  <a:pt x="103296" y="97691"/>
                  <a:pt x="82511" y="86907"/>
                  <a:pt x="59458" y="88840"/>
                </a:cubicBezTo>
                <a:cubicBezTo>
                  <a:pt x="36405" y="90772"/>
                  <a:pt x="16540" y="97691"/>
                  <a:pt x="4538" y="112860"/>
                </a:cubicBez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1ED7BE">
                  <a:alpha val="74901"/>
                </a:srgbClr>
              </a:gs>
              <a:gs pos="75000">
                <a:srgbClr val="1BC5C5">
                  <a:alpha val="74901"/>
                </a:srgbClr>
              </a:gs>
              <a:gs pos="100000">
                <a:srgbClr val="1CD9BD">
                  <a:alpha val="74901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8"/>
          <p:cNvSpPr/>
          <p:nvPr/>
        </p:nvSpPr>
        <p:spPr>
          <a:xfrm rot="10800000">
            <a:off x="1841090" y="4215348"/>
            <a:ext cx="989700" cy="677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03533" y="25191"/>
                </a:moveTo>
                <a:lnTo>
                  <a:pt x="16113" y="25191"/>
                </a:lnTo>
                <a:lnTo>
                  <a:pt x="16468" y="24492"/>
                </a:lnTo>
                <a:cubicBezTo>
                  <a:pt x="24817" y="9903"/>
                  <a:pt x="41101" y="0"/>
                  <a:pt x="59823" y="0"/>
                </a:cubicBezTo>
                <a:cubicBezTo>
                  <a:pt x="78544" y="0"/>
                  <a:pt x="94829" y="9903"/>
                  <a:pt x="103178" y="24492"/>
                </a:cubicBezTo>
                <a:lnTo>
                  <a:pt x="103533" y="25191"/>
                </a:lnTo>
                <a:close/>
                <a:moveTo>
                  <a:pt x="0" y="120000"/>
                </a:moveTo>
                <a:lnTo>
                  <a:pt x="15886" y="25191"/>
                </a:lnTo>
                <a:lnTo>
                  <a:pt x="103500" y="25191"/>
                </a:lnTo>
                <a:lnTo>
                  <a:pt x="120000" y="119286"/>
                </a:lnTo>
                <a:lnTo>
                  <a:pt x="118167" y="117026"/>
                </a:lnTo>
                <a:lnTo>
                  <a:pt x="115298" y="112860"/>
                </a:lnTo>
                <a:cubicBezTo>
                  <a:pt x="104108" y="98257"/>
                  <a:pt x="61154" y="97749"/>
                  <a:pt x="58935" y="97745"/>
                </a:cubicBezTo>
                <a:cubicBezTo>
                  <a:pt x="56715" y="97741"/>
                  <a:pt x="16540" y="97691"/>
                  <a:pt x="4538" y="112860"/>
                </a:cubicBez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1ED7BE">
                  <a:alpha val="74901"/>
                </a:srgbClr>
              </a:gs>
              <a:gs pos="75000">
                <a:srgbClr val="1BC5C5">
                  <a:alpha val="74901"/>
                </a:srgbClr>
              </a:gs>
              <a:gs pos="100000">
                <a:srgbClr val="1CD9BD">
                  <a:alpha val="74901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8"/>
          <p:cNvSpPr/>
          <p:nvPr/>
        </p:nvSpPr>
        <p:spPr>
          <a:xfrm>
            <a:off x="447825" y="1529674"/>
            <a:ext cx="3709200" cy="67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cubicBezTo>
                  <a:pt x="93137" y="0"/>
                  <a:pt x="120000" y="27671"/>
                  <a:pt x="120000" y="61804"/>
                </a:cubicBezTo>
                <a:cubicBezTo>
                  <a:pt x="120000" y="87405"/>
                  <a:pt x="104889" y="109370"/>
                  <a:pt x="83354" y="118752"/>
                </a:cubicBezTo>
                <a:lnTo>
                  <a:pt x="79454" y="120000"/>
                </a:lnTo>
                <a:lnTo>
                  <a:pt x="76579" y="118085"/>
                </a:lnTo>
                <a:cubicBezTo>
                  <a:pt x="71483" y="115441"/>
                  <a:pt x="65881" y="113979"/>
                  <a:pt x="59999" y="113979"/>
                </a:cubicBezTo>
                <a:cubicBezTo>
                  <a:pt x="54118" y="113979"/>
                  <a:pt x="48516" y="115441"/>
                  <a:pt x="43420" y="118085"/>
                </a:cubicBezTo>
                <a:lnTo>
                  <a:pt x="40545" y="120000"/>
                </a:lnTo>
                <a:lnTo>
                  <a:pt x="36645" y="118752"/>
                </a:lnTo>
                <a:cubicBezTo>
                  <a:pt x="15110" y="109370"/>
                  <a:pt x="0" y="87405"/>
                  <a:pt x="0" y="61804"/>
                </a:cubicBezTo>
                <a:cubicBezTo>
                  <a:pt x="0" y="27671"/>
                  <a:pt x="26862" y="0"/>
                  <a:pt x="60000" y="0"/>
                </a:cubicBezTo>
                <a:close/>
              </a:path>
            </a:pathLst>
          </a:custGeom>
          <a:gradFill>
            <a:gsLst>
              <a:gs pos="0">
                <a:srgbClr val="1ED7BE">
                  <a:alpha val="74901"/>
                </a:srgbClr>
              </a:gs>
              <a:gs pos="75000">
                <a:srgbClr val="1BC5C5">
                  <a:alpha val="74901"/>
                </a:srgbClr>
              </a:gs>
              <a:gs pos="100000">
                <a:srgbClr val="1CD9BD">
                  <a:alpha val="74901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48DE68D-A49F-7CFF-066F-C1228A588F90}"/>
              </a:ext>
            </a:extLst>
          </p:cNvPr>
          <p:cNvGrpSpPr/>
          <p:nvPr/>
        </p:nvGrpSpPr>
        <p:grpSpPr>
          <a:xfrm>
            <a:off x="4361634" y="1031405"/>
            <a:ext cx="4989250" cy="2653102"/>
            <a:chOff x="4354376" y="597796"/>
            <a:chExt cx="4989250" cy="2653102"/>
          </a:xfrm>
        </p:grpSpPr>
        <p:sp>
          <p:nvSpPr>
            <p:cNvPr id="3" name="Google Shape;342;p12">
              <a:extLst>
                <a:ext uri="{FF2B5EF4-FFF2-40B4-BE49-F238E27FC236}">
                  <a16:creationId xmlns:a16="http://schemas.microsoft.com/office/drawing/2014/main" id="{0006C540-A0D1-0843-47B2-3DEA720111CC}"/>
                </a:ext>
              </a:extLst>
            </p:cNvPr>
            <p:cNvSpPr txBox="1">
              <a:spLocks/>
            </p:cNvSpPr>
            <p:nvPr/>
          </p:nvSpPr>
          <p:spPr>
            <a:xfrm>
              <a:off x="4354376" y="597796"/>
              <a:ext cx="4989250" cy="25081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9BBD5"/>
                </a:buClr>
                <a:buSzPts val="4000"/>
                <a:buFont typeface="Nixie One"/>
                <a:buNone/>
                <a:defRPr sz="4000" b="0" i="0" u="none" strike="noStrike" cap="none">
                  <a:solidFill>
                    <a:srgbClr val="19BBD5"/>
                  </a:solidFill>
                  <a:latin typeface="Nixie One"/>
                  <a:ea typeface="Nixie One"/>
                  <a:cs typeface="Nixie One"/>
                  <a:sym typeface="Nixie One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9BBD5"/>
                </a:buClr>
                <a:buSzPts val="4000"/>
                <a:buFont typeface="Nixie One"/>
                <a:buNone/>
                <a:defRPr sz="4000" b="0" i="0" u="none" strike="noStrike" cap="none">
                  <a:solidFill>
                    <a:srgbClr val="19BBD5"/>
                  </a:solidFill>
                  <a:latin typeface="Nixie One"/>
                  <a:ea typeface="Nixie One"/>
                  <a:cs typeface="Nixie One"/>
                  <a:sym typeface="Nixie One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9BBD5"/>
                </a:buClr>
                <a:buSzPts val="4000"/>
                <a:buFont typeface="Nixie One"/>
                <a:buNone/>
                <a:defRPr sz="4000" b="0" i="0" u="none" strike="noStrike" cap="none">
                  <a:solidFill>
                    <a:srgbClr val="19BBD5"/>
                  </a:solidFill>
                  <a:latin typeface="Nixie One"/>
                  <a:ea typeface="Nixie One"/>
                  <a:cs typeface="Nixie One"/>
                  <a:sym typeface="Nixie One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9BBD5"/>
                </a:buClr>
                <a:buSzPts val="4000"/>
                <a:buFont typeface="Nixie One"/>
                <a:buNone/>
                <a:defRPr sz="4000" b="0" i="0" u="none" strike="noStrike" cap="none">
                  <a:solidFill>
                    <a:srgbClr val="19BBD5"/>
                  </a:solidFill>
                  <a:latin typeface="Nixie One"/>
                  <a:ea typeface="Nixie One"/>
                  <a:cs typeface="Nixie One"/>
                  <a:sym typeface="Nixie One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9BBD5"/>
                </a:buClr>
                <a:buSzPts val="4000"/>
                <a:buFont typeface="Nixie One"/>
                <a:buNone/>
                <a:defRPr sz="4000" b="0" i="0" u="none" strike="noStrike" cap="none">
                  <a:solidFill>
                    <a:srgbClr val="19BBD5"/>
                  </a:solidFill>
                  <a:latin typeface="Nixie One"/>
                  <a:ea typeface="Nixie One"/>
                  <a:cs typeface="Nixie One"/>
                  <a:sym typeface="Nixie One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9BBD5"/>
                </a:buClr>
                <a:buSzPts val="4000"/>
                <a:buFont typeface="Nixie One"/>
                <a:buNone/>
                <a:defRPr sz="4000" b="0" i="0" u="none" strike="noStrike" cap="none">
                  <a:solidFill>
                    <a:srgbClr val="19BBD5"/>
                  </a:solidFill>
                  <a:latin typeface="Nixie One"/>
                  <a:ea typeface="Nixie One"/>
                  <a:cs typeface="Nixie One"/>
                  <a:sym typeface="Nixie One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9BBD5"/>
                </a:buClr>
                <a:buSzPts val="4000"/>
                <a:buFont typeface="Nixie One"/>
                <a:buNone/>
                <a:defRPr sz="4000" b="0" i="0" u="none" strike="noStrike" cap="none">
                  <a:solidFill>
                    <a:srgbClr val="19BBD5"/>
                  </a:solidFill>
                  <a:latin typeface="Nixie One"/>
                  <a:ea typeface="Nixie One"/>
                  <a:cs typeface="Nixie One"/>
                  <a:sym typeface="Nixie One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9BBD5"/>
                </a:buClr>
                <a:buSzPts val="4000"/>
                <a:buFont typeface="Nixie One"/>
                <a:buNone/>
                <a:defRPr sz="4000" b="0" i="0" u="none" strike="noStrike" cap="none">
                  <a:solidFill>
                    <a:srgbClr val="19BBD5"/>
                  </a:solidFill>
                  <a:latin typeface="Nixie One"/>
                  <a:ea typeface="Nixie One"/>
                  <a:cs typeface="Nixie One"/>
                  <a:sym typeface="Nixie One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9BBD5"/>
                </a:buClr>
                <a:buSzPts val="4000"/>
                <a:buFont typeface="Nixie One"/>
                <a:buNone/>
                <a:defRPr sz="4000" b="0" i="0" u="none" strike="noStrike" cap="none">
                  <a:solidFill>
                    <a:srgbClr val="19BBD5"/>
                  </a:solidFill>
                  <a:latin typeface="Nixie One"/>
                  <a:ea typeface="Nixie One"/>
                  <a:cs typeface="Nixie One"/>
                  <a:sym typeface="Nixie One"/>
                </a:defRPr>
              </a:lvl9pPr>
            </a:lstStyle>
            <a:p>
              <a:pPr marL="285750" lvl="0" indent="-285750">
                <a:buSzPct val="100000"/>
                <a:buFont typeface="Wingdings" panose="05000000000000000000" pitchFamily="2" charset="2"/>
                <a:buChar char="q"/>
              </a:pPr>
              <a:r>
                <a:rPr lang="en-US" sz="2000" b="1" dirty="0"/>
                <a:t>We utilized 4-way loop Unrolling:</a:t>
              </a:r>
            </a:p>
            <a:p>
              <a:pPr marL="285750" lvl="0" indent="-285750">
                <a:buSzPct val="100000"/>
                <a:buFont typeface="Wingdings" panose="05000000000000000000" pitchFamily="2" charset="2"/>
                <a:buChar char="q"/>
              </a:pPr>
              <a:endParaRPr lang="en-PK" sz="2000" dirty="0"/>
            </a:p>
            <a:p>
              <a:pPr lvl="0">
                <a:buSzPct val="100000"/>
              </a:pPr>
              <a:endParaRPr lang="en-US" sz="2000" dirty="0"/>
            </a:p>
            <a:p>
              <a:pPr marL="285750" lvl="0" indent="-285750">
                <a:buFont typeface="Wingdings" panose="05000000000000000000" pitchFamily="2" charset="2"/>
                <a:buChar char="q"/>
              </a:pPr>
              <a:endParaRPr lang="en-US" sz="2000" dirty="0"/>
            </a:p>
            <a:p>
              <a:pPr marL="285750" lvl="0" indent="-285750">
                <a:buFont typeface="Wingdings" panose="05000000000000000000" pitchFamily="2" charset="2"/>
                <a:buChar char="q"/>
              </a:pPr>
              <a:endParaRPr lang="en-PK" sz="1800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DA1F7DD-201C-78CE-B493-6D5C32F9F9E1}"/>
                </a:ext>
              </a:extLst>
            </p:cNvPr>
            <p:cNvSpPr txBox="1"/>
            <p:nvPr/>
          </p:nvSpPr>
          <p:spPr>
            <a:xfrm>
              <a:off x="4564742" y="1958236"/>
              <a:ext cx="3339376" cy="12926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lvl="1" indent="-285750">
                <a:buClr>
                  <a:srgbClr val="1BD8D5"/>
                </a:buClr>
                <a:buFont typeface="Wingdings" panose="05000000000000000000" pitchFamily="2" charset="2"/>
                <a:buChar char="§"/>
              </a:pPr>
              <a:r>
                <a:rPr lang="en-US" sz="1600" dirty="0">
                  <a:solidFill>
                    <a:srgbClr val="19BBD5"/>
                  </a:solidFill>
                  <a:latin typeface="Aptos Display" panose="020B0004020202020204" pitchFamily="34" charset="0"/>
                </a:rPr>
                <a:t>Reduces loop overhead</a:t>
              </a:r>
              <a:endParaRPr lang="en-PK" sz="1600" dirty="0">
                <a:solidFill>
                  <a:srgbClr val="19BBD5"/>
                </a:solidFill>
                <a:latin typeface="Aptos Display" panose="020B0004020202020204" pitchFamily="34" charset="0"/>
              </a:endParaRPr>
            </a:p>
            <a:p>
              <a:pPr marL="285750" lvl="1" indent="-285750">
                <a:buClr>
                  <a:srgbClr val="1BD8D5"/>
                </a:buClr>
                <a:buFont typeface="Wingdings" panose="05000000000000000000" pitchFamily="2" charset="2"/>
                <a:buChar char="§"/>
              </a:pPr>
              <a:r>
                <a:rPr lang="en-US" sz="1600" dirty="0">
                  <a:solidFill>
                    <a:srgbClr val="19BBD5"/>
                  </a:solidFill>
                  <a:latin typeface="Aptos Display" panose="020B0004020202020204" pitchFamily="34" charset="0"/>
                </a:rPr>
                <a:t>Improves register reuse</a:t>
              </a:r>
              <a:endParaRPr lang="en-PK" sz="1600" dirty="0">
                <a:solidFill>
                  <a:srgbClr val="19BBD5"/>
                </a:solidFill>
                <a:latin typeface="Aptos Display" panose="020B0004020202020204" pitchFamily="34" charset="0"/>
              </a:endParaRPr>
            </a:p>
            <a:p>
              <a:pPr marL="285750" lvl="1" indent="-285750">
                <a:buClr>
                  <a:srgbClr val="1BD8D5"/>
                </a:buClr>
                <a:buFont typeface="Wingdings" panose="05000000000000000000" pitchFamily="2" charset="2"/>
                <a:buChar char="§"/>
              </a:pPr>
              <a:r>
                <a:rPr lang="en-US" sz="1600" dirty="0">
                  <a:solidFill>
                    <a:srgbClr val="19BBD5"/>
                  </a:solidFill>
                  <a:latin typeface="Aptos Display" panose="020B0004020202020204" pitchFamily="34" charset="0"/>
                </a:rPr>
                <a:t>Better instruction-level parallelism</a:t>
              </a:r>
              <a:endParaRPr lang="en-PK" sz="1600" dirty="0">
                <a:solidFill>
                  <a:srgbClr val="19BBD5"/>
                </a:solidFill>
                <a:latin typeface="Aptos Display" panose="020B0004020202020204" pitchFamily="34" charset="0"/>
              </a:endParaRPr>
            </a:p>
            <a:p>
              <a:pPr marL="285750" lvl="0" indent="-285750">
                <a:buClr>
                  <a:srgbClr val="1BD8D5"/>
                </a:buClr>
                <a:buFont typeface="Wingdings" panose="05000000000000000000" pitchFamily="2" charset="2"/>
                <a:buChar char="§"/>
              </a:pPr>
              <a:r>
                <a:rPr lang="en-US" sz="1600" dirty="0">
                  <a:solidFill>
                    <a:srgbClr val="19BBD5"/>
                  </a:solidFill>
                  <a:latin typeface="Aptos Display" panose="020B0004020202020204" pitchFamily="34" charset="0"/>
                </a:rPr>
                <a:t>No change in data structures</a:t>
              </a:r>
              <a:endParaRPr lang="en-PK" sz="1600" dirty="0">
                <a:solidFill>
                  <a:srgbClr val="19BBD5"/>
                </a:solidFill>
                <a:latin typeface="Aptos Display" panose="020B0004020202020204" pitchFamily="34" charset="0"/>
              </a:endParaRPr>
            </a:p>
            <a:p>
              <a:endParaRPr lang="en-PK" dirty="0"/>
            </a:p>
          </p:txBody>
        </p:sp>
      </p:grpSp>
      <p:sp>
        <p:nvSpPr>
          <p:cNvPr id="5" name="Google Shape;615;p37">
            <a:extLst>
              <a:ext uri="{FF2B5EF4-FFF2-40B4-BE49-F238E27FC236}">
                <a16:creationId xmlns:a16="http://schemas.microsoft.com/office/drawing/2014/main" id="{3E76D90F-853C-C7C8-46B2-6E8B1C618E13}"/>
              </a:ext>
            </a:extLst>
          </p:cNvPr>
          <p:cNvSpPr txBox="1">
            <a:spLocks/>
          </p:cNvSpPr>
          <p:nvPr/>
        </p:nvSpPr>
        <p:spPr>
          <a:xfrm>
            <a:off x="2923867" y="3687588"/>
            <a:ext cx="5409238" cy="12926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100" dirty="0">
                <a:solidFill>
                  <a:srgbClr val="19BBD5"/>
                </a:solidFill>
              </a:rPr>
              <a:t>This project is inspired by CVR: Efficient Vectorization of </a:t>
            </a:r>
            <a:r>
              <a:rPr lang="en-US" sz="1100" dirty="0" err="1">
                <a:solidFill>
                  <a:srgbClr val="19BBD5"/>
                </a:solidFill>
              </a:rPr>
              <a:t>SpMV</a:t>
            </a:r>
            <a:r>
              <a:rPr lang="en-US" sz="1100" dirty="0">
                <a:solidFill>
                  <a:srgbClr val="19BBD5"/>
                </a:solidFill>
              </a:rPr>
              <a:t> on x86 processors, which focuses on improving Sparse Matrix-Vector Multiplication using vectorization and cache-friendly memory access. Instead of implementing the full CVR format, a simpler loop-unrolling optimization was applied to the HPCG </a:t>
            </a:r>
            <a:r>
              <a:rPr lang="en-US" sz="1100" dirty="0" err="1">
                <a:solidFill>
                  <a:srgbClr val="19BBD5"/>
                </a:solidFill>
              </a:rPr>
              <a:t>SpMV</a:t>
            </a:r>
            <a:r>
              <a:rPr lang="en-US" sz="1100" dirty="0">
                <a:solidFill>
                  <a:srgbClr val="19BBD5"/>
                </a:solidFill>
              </a:rPr>
              <a:t> kernel.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39"/>
          <p:cNvSpPr txBox="1">
            <a:spLocks noGrp="1"/>
          </p:cNvSpPr>
          <p:nvPr>
            <p:ph type="title"/>
          </p:nvPr>
        </p:nvSpPr>
        <p:spPr>
          <a:xfrm>
            <a:off x="1968485" y="586897"/>
            <a:ext cx="6935050" cy="64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Where the Code was Modified</a:t>
            </a:r>
            <a:endParaRPr dirty="0"/>
          </a:p>
        </p:txBody>
      </p:sp>
      <p:sp>
        <p:nvSpPr>
          <p:cNvPr id="667" name="Google Shape;667;p39"/>
          <p:cNvSpPr/>
          <p:nvPr/>
        </p:nvSpPr>
        <p:spPr>
          <a:xfrm>
            <a:off x="0" y="2675828"/>
            <a:ext cx="9144000" cy="1011043"/>
          </a:xfrm>
          <a:custGeom>
            <a:avLst/>
            <a:gdLst/>
            <a:ahLst/>
            <a:cxnLst/>
            <a:rect l="l" t="t" r="r" b="b"/>
            <a:pathLst>
              <a:path w="12192000" h="1348058" extrusionOk="0">
                <a:moveTo>
                  <a:pt x="12192000" y="0"/>
                </a:moveTo>
                <a:lnTo>
                  <a:pt x="10837333" y="0"/>
                </a:lnTo>
                <a:cubicBezTo>
                  <a:pt x="10463295" y="0"/>
                  <a:pt x="10160000" y="301773"/>
                  <a:pt x="10160000" y="674029"/>
                </a:cubicBezTo>
                <a:lnTo>
                  <a:pt x="10160000" y="674029"/>
                </a:lnTo>
                <a:cubicBezTo>
                  <a:pt x="10160000" y="1046281"/>
                  <a:pt x="9856705" y="1348059"/>
                  <a:pt x="9482667" y="1348059"/>
                </a:cubicBezTo>
                <a:lnTo>
                  <a:pt x="9482667" y="1348059"/>
                </a:lnTo>
                <a:cubicBezTo>
                  <a:pt x="9108581" y="1348059"/>
                  <a:pt x="8805333" y="1046281"/>
                  <a:pt x="8805333" y="674029"/>
                </a:cubicBezTo>
                <a:lnTo>
                  <a:pt x="8805333" y="674029"/>
                </a:lnTo>
                <a:cubicBezTo>
                  <a:pt x="8805333" y="301773"/>
                  <a:pt x="8502086" y="0"/>
                  <a:pt x="8128000" y="0"/>
                </a:cubicBezTo>
                <a:lnTo>
                  <a:pt x="8128000" y="0"/>
                </a:lnTo>
                <a:cubicBezTo>
                  <a:pt x="7753915" y="0"/>
                  <a:pt x="7450667" y="301773"/>
                  <a:pt x="7450667" y="674029"/>
                </a:cubicBezTo>
                <a:lnTo>
                  <a:pt x="7450667" y="674029"/>
                </a:lnTo>
                <a:cubicBezTo>
                  <a:pt x="7450667" y="1046281"/>
                  <a:pt x="7147419" y="1348059"/>
                  <a:pt x="6773334" y="1348059"/>
                </a:cubicBezTo>
                <a:lnTo>
                  <a:pt x="6773334" y="1348059"/>
                </a:lnTo>
                <a:cubicBezTo>
                  <a:pt x="6399248" y="1348059"/>
                  <a:pt x="6096000" y="1046281"/>
                  <a:pt x="6096000" y="674029"/>
                </a:cubicBezTo>
                <a:lnTo>
                  <a:pt x="6096000" y="674029"/>
                </a:lnTo>
                <a:cubicBezTo>
                  <a:pt x="6096000" y="301773"/>
                  <a:pt x="5792753" y="0"/>
                  <a:pt x="5418667" y="0"/>
                </a:cubicBezTo>
                <a:lnTo>
                  <a:pt x="5418667" y="0"/>
                </a:lnTo>
                <a:cubicBezTo>
                  <a:pt x="5044581" y="0"/>
                  <a:pt x="4741334" y="301773"/>
                  <a:pt x="4741334" y="674029"/>
                </a:cubicBezTo>
                <a:lnTo>
                  <a:pt x="4741334" y="674029"/>
                </a:lnTo>
                <a:cubicBezTo>
                  <a:pt x="4741334" y="1046281"/>
                  <a:pt x="4438076" y="1348059"/>
                  <a:pt x="4064000" y="1348059"/>
                </a:cubicBezTo>
                <a:lnTo>
                  <a:pt x="4064000" y="1348059"/>
                </a:lnTo>
                <a:cubicBezTo>
                  <a:pt x="3689924" y="1348059"/>
                  <a:pt x="3386667" y="1046281"/>
                  <a:pt x="3386667" y="674029"/>
                </a:cubicBezTo>
                <a:lnTo>
                  <a:pt x="3386667" y="674029"/>
                </a:lnTo>
                <a:cubicBezTo>
                  <a:pt x="3386667" y="301773"/>
                  <a:pt x="3083410" y="0"/>
                  <a:pt x="2709333" y="0"/>
                </a:cubicBezTo>
                <a:lnTo>
                  <a:pt x="2709333" y="0"/>
                </a:lnTo>
                <a:cubicBezTo>
                  <a:pt x="2335257" y="0"/>
                  <a:pt x="2032000" y="301773"/>
                  <a:pt x="2032000" y="674029"/>
                </a:cubicBezTo>
                <a:lnTo>
                  <a:pt x="2032000" y="674029"/>
                </a:lnTo>
                <a:cubicBezTo>
                  <a:pt x="2032000" y="1046281"/>
                  <a:pt x="1728743" y="1348059"/>
                  <a:pt x="1354667" y="1348059"/>
                </a:cubicBezTo>
                <a:lnTo>
                  <a:pt x="0" y="1348059"/>
                </a:lnTo>
              </a:path>
            </a:pathLst>
          </a:custGeom>
          <a:noFill/>
          <a:ln w="22860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9"/>
          <p:cNvSpPr/>
          <p:nvPr/>
        </p:nvSpPr>
        <p:spPr>
          <a:xfrm>
            <a:off x="0" y="2675828"/>
            <a:ext cx="9144000" cy="1011043"/>
          </a:xfrm>
          <a:custGeom>
            <a:avLst/>
            <a:gdLst/>
            <a:ahLst/>
            <a:cxnLst/>
            <a:rect l="l" t="t" r="r" b="b"/>
            <a:pathLst>
              <a:path w="12192000" h="1348058" extrusionOk="0">
                <a:moveTo>
                  <a:pt x="12192000" y="0"/>
                </a:moveTo>
                <a:lnTo>
                  <a:pt x="10837333" y="0"/>
                </a:lnTo>
                <a:cubicBezTo>
                  <a:pt x="10463295" y="0"/>
                  <a:pt x="10160000" y="301773"/>
                  <a:pt x="10160000" y="674029"/>
                </a:cubicBezTo>
                <a:lnTo>
                  <a:pt x="10160000" y="674029"/>
                </a:lnTo>
                <a:cubicBezTo>
                  <a:pt x="10160000" y="1046281"/>
                  <a:pt x="9856705" y="1348059"/>
                  <a:pt x="9482667" y="1348059"/>
                </a:cubicBezTo>
                <a:lnTo>
                  <a:pt x="9482667" y="1348059"/>
                </a:lnTo>
                <a:cubicBezTo>
                  <a:pt x="9108581" y="1348059"/>
                  <a:pt x="8805333" y="1046281"/>
                  <a:pt x="8805333" y="674029"/>
                </a:cubicBezTo>
                <a:lnTo>
                  <a:pt x="8805333" y="674029"/>
                </a:lnTo>
                <a:cubicBezTo>
                  <a:pt x="8805333" y="301773"/>
                  <a:pt x="8502086" y="0"/>
                  <a:pt x="8128000" y="0"/>
                </a:cubicBezTo>
                <a:lnTo>
                  <a:pt x="8128000" y="0"/>
                </a:lnTo>
                <a:cubicBezTo>
                  <a:pt x="7753915" y="0"/>
                  <a:pt x="7450667" y="301773"/>
                  <a:pt x="7450667" y="674029"/>
                </a:cubicBezTo>
                <a:lnTo>
                  <a:pt x="7450667" y="674029"/>
                </a:lnTo>
                <a:cubicBezTo>
                  <a:pt x="7450667" y="1046281"/>
                  <a:pt x="7147419" y="1348059"/>
                  <a:pt x="6773334" y="1348059"/>
                </a:cubicBezTo>
                <a:lnTo>
                  <a:pt x="6773334" y="1348059"/>
                </a:lnTo>
                <a:cubicBezTo>
                  <a:pt x="6399248" y="1348059"/>
                  <a:pt x="6096000" y="1046281"/>
                  <a:pt x="6096000" y="674029"/>
                </a:cubicBezTo>
                <a:lnTo>
                  <a:pt x="6096000" y="674029"/>
                </a:lnTo>
                <a:cubicBezTo>
                  <a:pt x="6096000" y="301773"/>
                  <a:pt x="5792753" y="0"/>
                  <a:pt x="5418667" y="0"/>
                </a:cubicBezTo>
                <a:lnTo>
                  <a:pt x="5418667" y="0"/>
                </a:lnTo>
                <a:cubicBezTo>
                  <a:pt x="5044581" y="0"/>
                  <a:pt x="4741334" y="301773"/>
                  <a:pt x="4741334" y="674029"/>
                </a:cubicBezTo>
                <a:lnTo>
                  <a:pt x="4741334" y="674029"/>
                </a:lnTo>
                <a:cubicBezTo>
                  <a:pt x="4741334" y="1046281"/>
                  <a:pt x="4438076" y="1348059"/>
                  <a:pt x="4064000" y="1348059"/>
                </a:cubicBezTo>
                <a:lnTo>
                  <a:pt x="4064000" y="1348059"/>
                </a:lnTo>
                <a:cubicBezTo>
                  <a:pt x="3689924" y="1348059"/>
                  <a:pt x="3386667" y="1046281"/>
                  <a:pt x="3386667" y="674029"/>
                </a:cubicBezTo>
                <a:lnTo>
                  <a:pt x="3386667" y="674029"/>
                </a:lnTo>
                <a:cubicBezTo>
                  <a:pt x="3386667" y="301773"/>
                  <a:pt x="3083410" y="0"/>
                  <a:pt x="2709333" y="0"/>
                </a:cubicBezTo>
                <a:lnTo>
                  <a:pt x="2709333" y="0"/>
                </a:lnTo>
                <a:cubicBezTo>
                  <a:pt x="2335257" y="0"/>
                  <a:pt x="2032000" y="301773"/>
                  <a:pt x="2032000" y="674029"/>
                </a:cubicBezTo>
                <a:lnTo>
                  <a:pt x="2032000" y="674029"/>
                </a:lnTo>
                <a:cubicBezTo>
                  <a:pt x="2032000" y="1046281"/>
                  <a:pt x="1728743" y="1348059"/>
                  <a:pt x="1354667" y="1348059"/>
                </a:cubicBezTo>
                <a:lnTo>
                  <a:pt x="0" y="1348059"/>
                </a:lnTo>
              </a:path>
            </a:pathLst>
          </a:custGeom>
          <a:noFill/>
          <a:ln w="19050" cap="flat" cmpd="sng">
            <a:solidFill>
              <a:schemeClr val="dk1"/>
            </a:solidFill>
            <a:prstDash val="dash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9"/>
          <p:cNvSpPr/>
          <p:nvPr/>
        </p:nvSpPr>
        <p:spPr>
          <a:xfrm rot="8100000">
            <a:off x="3853033" y="2087403"/>
            <a:ext cx="334744" cy="334744"/>
          </a:xfrm>
          <a:prstGeom prst="teardrop">
            <a:avLst>
              <a:gd name="adj" fmla="val 10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679" name="Google Shape;679;p39"/>
          <p:cNvSpPr/>
          <p:nvPr/>
        </p:nvSpPr>
        <p:spPr>
          <a:xfrm rot="18900000">
            <a:off x="4922083" y="3950426"/>
            <a:ext cx="334744" cy="334744"/>
          </a:xfrm>
          <a:prstGeom prst="teardrop">
            <a:avLst>
              <a:gd name="adj" fmla="val 10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685" name="Google Shape;685;p39"/>
          <p:cNvSpPr/>
          <p:nvPr/>
        </p:nvSpPr>
        <p:spPr>
          <a:xfrm rot="18900000">
            <a:off x="2893992" y="3950428"/>
            <a:ext cx="334744" cy="334744"/>
          </a:xfrm>
          <a:prstGeom prst="teardrop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" name="Google Shape;665;p39">
            <a:extLst>
              <a:ext uri="{FF2B5EF4-FFF2-40B4-BE49-F238E27FC236}">
                <a16:creationId xmlns:a16="http://schemas.microsoft.com/office/drawing/2014/main" id="{BA934F9E-E9AF-7642-F94C-6194ED5A3734}"/>
              </a:ext>
            </a:extLst>
          </p:cNvPr>
          <p:cNvSpPr txBox="1">
            <a:spLocks/>
          </p:cNvSpPr>
          <p:nvPr/>
        </p:nvSpPr>
        <p:spPr>
          <a:xfrm>
            <a:off x="1823406" y="4354498"/>
            <a:ext cx="2623395" cy="1011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r>
              <a:rPr lang="en-US" sz="1600" dirty="0" err="1"/>
              <a:t>Src</a:t>
            </a:r>
            <a:r>
              <a:rPr lang="en-US" sz="1600" dirty="0"/>
              <a:t>/ComputeSPMV-ref.cpp</a:t>
            </a:r>
          </a:p>
        </p:txBody>
      </p:sp>
      <p:sp>
        <p:nvSpPr>
          <p:cNvPr id="3" name="Google Shape;665;p39">
            <a:extLst>
              <a:ext uri="{FF2B5EF4-FFF2-40B4-BE49-F238E27FC236}">
                <a16:creationId xmlns:a16="http://schemas.microsoft.com/office/drawing/2014/main" id="{5ACA1FAB-4EC4-5323-68EA-BA634EFDE648}"/>
              </a:ext>
            </a:extLst>
          </p:cNvPr>
          <p:cNvSpPr txBox="1">
            <a:spLocks/>
          </p:cNvSpPr>
          <p:nvPr/>
        </p:nvSpPr>
        <p:spPr>
          <a:xfrm>
            <a:off x="2702760" y="1480433"/>
            <a:ext cx="2623395" cy="1011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pPr algn="ctr"/>
            <a:r>
              <a:rPr lang="en-US" sz="1600" dirty="0"/>
              <a:t>Inner </a:t>
            </a:r>
            <a:r>
              <a:rPr lang="en-US" sz="1600" dirty="0" err="1"/>
              <a:t>SpMV</a:t>
            </a:r>
            <a:r>
              <a:rPr lang="en-US" sz="1600" dirty="0"/>
              <a:t> loop</a:t>
            </a:r>
          </a:p>
          <a:p>
            <a:pPr algn="ctr"/>
            <a:r>
              <a:rPr lang="en-US" sz="1600" dirty="0"/>
              <a:t> optimized</a:t>
            </a:r>
          </a:p>
        </p:txBody>
      </p:sp>
      <p:sp>
        <p:nvSpPr>
          <p:cNvPr id="4" name="Google Shape;665;p39">
            <a:extLst>
              <a:ext uri="{FF2B5EF4-FFF2-40B4-BE49-F238E27FC236}">
                <a16:creationId xmlns:a16="http://schemas.microsoft.com/office/drawing/2014/main" id="{FD779753-2323-6C20-1AD1-5F98F277C1B4}"/>
              </a:ext>
            </a:extLst>
          </p:cNvPr>
          <p:cNvSpPr txBox="1">
            <a:spLocks/>
          </p:cNvSpPr>
          <p:nvPr/>
        </p:nvSpPr>
        <p:spPr>
          <a:xfrm>
            <a:off x="3783705" y="4280004"/>
            <a:ext cx="2623395" cy="1011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pPr algn="ctr"/>
            <a:r>
              <a:rPr lang="en-US" sz="1600" dirty="0"/>
              <a:t>HPCG components unchanged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8" name="Google Shape;528;p30"/>
          <p:cNvCxnSpPr/>
          <p:nvPr/>
        </p:nvCxnSpPr>
        <p:spPr>
          <a:xfrm>
            <a:off x="1680750" y="2017674"/>
            <a:ext cx="57825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9" name="Google Shape;529;p30"/>
          <p:cNvCxnSpPr/>
          <p:nvPr/>
        </p:nvCxnSpPr>
        <p:spPr>
          <a:xfrm>
            <a:off x="1680750" y="2727156"/>
            <a:ext cx="57825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0" name="Google Shape;530;p30"/>
          <p:cNvCxnSpPr/>
          <p:nvPr/>
        </p:nvCxnSpPr>
        <p:spPr>
          <a:xfrm>
            <a:off x="1680750" y="3436638"/>
            <a:ext cx="57825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1" name="Google Shape;531;p30"/>
          <p:cNvCxnSpPr/>
          <p:nvPr/>
        </p:nvCxnSpPr>
        <p:spPr>
          <a:xfrm>
            <a:off x="1680750" y="4146121"/>
            <a:ext cx="57825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2" name="Google Shape;532;p30"/>
          <p:cNvCxnSpPr/>
          <p:nvPr/>
        </p:nvCxnSpPr>
        <p:spPr>
          <a:xfrm>
            <a:off x="1680750" y="4877501"/>
            <a:ext cx="57825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3" name="Google Shape;533;p30"/>
          <p:cNvSpPr txBox="1"/>
          <p:nvPr/>
        </p:nvSpPr>
        <p:spPr>
          <a:xfrm>
            <a:off x="1680750" y="1237393"/>
            <a:ext cx="309300" cy="30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4000</a:t>
            </a:r>
            <a:endParaRPr sz="1000" dirty="0"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3000</a:t>
            </a:r>
            <a:endParaRPr sz="1000" dirty="0"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2000</a:t>
            </a:r>
            <a:endParaRPr sz="1000" dirty="0"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1000</a:t>
            </a:r>
            <a:endParaRPr sz="1000" dirty="0"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4400"/>
              </a:spcBef>
              <a:spcAft>
                <a:spcPts val="4400"/>
              </a:spcAft>
              <a:buNone/>
            </a:pPr>
            <a:r>
              <a:rPr lang="en" sz="1000" dirty="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0</a:t>
            </a:r>
            <a:endParaRPr sz="1000" dirty="0"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534" name="Google Shape;534;p30"/>
          <p:cNvSpPr/>
          <p:nvPr/>
        </p:nvSpPr>
        <p:spPr>
          <a:xfrm>
            <a:off x="2176221" y="2702379"/>
            <a:ext cx="186600" cy="155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30"/>
          <p:cNvSpPr/>
          <p:nvPr/>
        </p:nvSpPr>
        <p:spPr>
          <a:xfrm>
            <a:off x="2427235" y="2308316"/>
            <a:ext cx="186600" cy="1947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30"/>
          <p:cNvSpPr/>
          <p:nvPr/>
        </p:nvSpPr>
        <p:spPr>
          <a:xfrm>
            <a:off x="2678248" y="2815106"/>
            <a:ext cx="186600" cy="1441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30"/>
          <p:cNvSpPr/>
          <p:nvPr/>
        </p:nvSpPr>
        <p:spPr>
          <a:xfrm>
            <a:off x="3576494" y="3016169"/>
            <a:ext cx="186600" cy="1239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30"/>
          <p:cNvSpPr/>
          <p:nvPr/>
        </p:nvSpPr>
        <p:spPr>
          <a:xfrm>
            <a:off x="3827508" y="2417786"/>
            <a:ext cx="186600" cy="1838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30"/>
          <p:cNvSpPr/>
          <p:nvPr/>
        </p:nvSpPr>
        <p:spPr>
          <a:xfrm>
            <a:off x="4078521" y="1550466"/>
            <a:ext cx="186600" cy="270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30"/>
          <p:cNvSpPr/>
          <p:nvPr/>
        </p:nvSpPr>
        <p:spPr>
          <a:xfrm>
            <a:off x="4976767" y="2461561"/>
            <a:ext cx="186600" cy="1794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30"/>
          <p:cNvSpPr/>
          <p:nvPr/>
        </p:nvSpPr>
        <p:spPr>
          <a:xfrm>
            <a:off x="5227780" y="1396018"/>
            <a:ext cx="186600" cy="2860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30"/>
          <p:cNvSpPr/>
          <p:nvPr/>
        </p:nvSpPr>
        <p:spPr>
          <a:xfrm>
            <a:off x="5478794" y="2644004"/>
            <a:ext cx="186600" cy="1611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30"/>
          <p:cNvSpPr/>
          <p:nvPr/>
        </p:nvSpPr>
        <p:spPr>
          <a:xfrm>
            <a:off x="6377039" y="3074543"/>
            <a:ext cx="186600" cy="1181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30"/>
          <p:cNvSpPr/>
          <p:nvPr/>
        </p:nvSpPr>
        <p:spPr>
          <a:xfrm>
            <a:off x="6628053" y="1615061"/>
            <a:ext cx="186600" cy="2641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30"/>
          <p:cNvSpPr/>
          <p:nvPr/>
        </p:nvSpPr>
        <p:spPr>
          <a:xfrm>
            <a:off x="6879066" y="1928851"/>
            <a:ext cx="186600" cy="2327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486;p28">
            <a:extLst>
              <a:ext uri="{FF2B5EF4-FFF2-40B4-BE49-F238E27FC236}">
                <a16:creationId xmlns:a16="http://schemas.microsoft.com/office/drawing/2014/main" id="{C619B360-8055-308F-9C89-9D329951340C}"/>
              </a:ext>
            </a:extLst>
          </p:cNvPr>
          <p:cNvSpPr txBox="1">
            <a:spLocks/>
          </p:cNvSpPr>
          <p:nvPr/>
        </p:nvSpPr>
        <p:spPr>
          <a:xfrm>
            <a:off x="1337850" y="532707"/>
            <a:ext cx="6771825" cy="704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pPr algn="ctr"/>
            <a:r>
              <a:rPr lang="en-US" sz="4400" dirty="0"/>
              <a:t>System Architecture</a:t>
            </a:r>
          </a:p>
        </p:txBody>
      </p:sp>
      <p:sp>
        <p:nvSpPr>
          <p:cNvPr id="5" name="Google Shape;486;p28">
            <a:extLst>
              <a:ext uri="{FF2B5EF4-FFF2-40B4-BE49-F238E27FC236}">
                <a16:creationId xmlns:a16="http://schemas.microsoft.com/office/drawing/2014/main" id="{648CABB2-96AA-3E6A-99F6-8025B6B7E8BD}"/>
              </a:ext>
            </a:extLst>
          </p:cNvPr>
          <p:cNvSpPr txBox="1">
            <a:spLocks/>
          </p:cNvSpPr>
          <p:nvPr/>
        </p:nvSpPr>
        <p:spPr>
          <a:xfrm>
            <a:off x="1531240" y="4208224"/>
            <a:ext cx="1835635" cy="681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pPr algn="ctr"/>
            <a:r>
              <a:rPr lang="en-US" sz="1600" dirty="0"/>
              <a:t>Intel Core i5-5300U</a:t>
            </a:r>
          </a:p>
          <a:p>
            <a:pPr algn="ctr"/>
            <a:r>
              <a:rPr lang="en-US" sz="1600" dirty="0"/>
              <a:t>@2.30 GHz</a:t>
            </a:r>
          </a:p>
        </p:txBody>
      </p:sp>
      <p:sp>
        <p:nvSpPr>
          <p:cNvPr id="6" name="Google Shape;486;p28">
            <a:extLst>
              <a:ext uri="{FF2B5EF4-FFF2-40B4-BE49-F238E27FC236}">
                <a16:creationId xmlns:a16="http://schemas.microsoft.com/office/drawing/2014/main" id="{AC891854-B9DA-9C77-7D4E-843AA0A88D5E}"/>
              </a:ext>
            </a:extLst>
          </p:cNvPr>
          <p:cNvSpPr txBox="1">
            <a:spLocks/>
          </p:cNvSpPr>
          <p:nvPr/>
        </p:nvSpPr>
        <p:spPr>
          <a:xfrm>
            <a:off x="2974568" y="4455799"/>
            <a:ext cx="1835635" cy="681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pPr algn="ctr"/>
            <a:r>
              <a:rPr lang="en-US" sz="1600" dirty="0"/>
              <a:t>2 core</a:t>
            </a:r>
          </a:p>
          <a:p>
            <a:pPr algn="ctr"/>
            <a:r>
              <a:rPr lang="en-US" sz="1600" dirty="0"/>
              <a:t> Processor w/</a:t>
            </a:r>
          </a:p>
          <a:p>
            <a:pPr algn="ctr"/>
            <a:r>
              <a:rPr lang="en-US" sz="1600" dirty="0"/>
              <a:t>4 Threads</a:t>
            </a:r>
          </a:p>
        </p:txBody>
      </p:sp>
      <p:sp>
        <p:nvSpPr>
          <p:cNvPr id="7" name="Google Shape;486;p28">
            <a:extLst>
              <a:ext uri="{FF2B5EF4-FFF2-40B4-BE49-F238E27FC236}">
                <a16:creationId xmlns:a16="http://schemas.microsoft.com/office/drawing/2014/main" id="{46A99647-1F4D-7D7F-1D1D-693C57418D4F}"/>
              </a:ext>
            </a:extLst>
          </p:cNvPr>
          <p:cNvSpPr txBox="1">
            <a:spLocks/>
          </p:cNvSpPr>
          <p:nvPr/>
        </p:nvSpPr>
        <p:spPr>
          <a:xfrm>
            <a:off x="4342402" y="4226202"/>
            <a:ext cx="1835635" cy="681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pPr algn="ctr"/>
            <a:r>
              <a:rPr lang="en-US" sz="1600" dirty="0"/>
              <a:t>8</a:t>
            </a:r>
          </a:p>
          <a:p>
            <a:pPr algn="ctr"/>
            <a:r>
              <a:rPr lang="en-US" sz="1600" dirty="0"/>
              <a:t> GB RAM</a:t>
            </a:r>
          </a:p>
        </p:txBody>
      </p:sp>
      <p:sp>
        <p:nvSpPr>
          <p:cNvPr id="8" name="Google Shape;486;p28">
            <a:extLst>
              <a:ext uri="{FF2B5EF4-FFF2-40B4-BE49-F238E27FC236}">
                <a16:creationId xmlns:a16="http://schemas.microsoft.com/office/drawing/2014/main" id="{ECAC3196-5A16-51E4-E146-34D1CD363134}"/>
              </a:ext>
            </a:extLst>
          </p:cNvPr>
          <p:cNvSpPr txBox="1">
            <a:spLocks/>
          </p:cNvSpPr>
          <p:nvPr/>
        </p:nvSpPr>
        <p:spPr>
          <a:xfrm>
            <a:off x="5825825" y="4255904"/>
            <a:ext cx="1835635" cy="681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pPr algn="ctr"/>
            <a:r>
              <a:rPr lang="en-US" sz="1600" dirty="0"/>
              <a:t>Running Linux</a:t>
            </a:r>
          </a:p>
          <a:p>
            <a:pPr algn="ctr"/>
            <a:r>
              <a:rPr lang="en-US" sz="1600" dirty="0"/>
              <a:t>(WSL)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40"/>
          <p:cNvSpPr txBox="1">
            <a:spLocks noGrp="1"/>
          </p:cNvSpPr>
          <p:nvPr>
            <p:ph type="title"/>
          </p:nvPr>
        </p:nvSpPr>
        <p:spPr>
          <a:xfrm>
            <a:off x="1706067" y="483848"/>
            <a:ext cx="4944300" cy="64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Experimental Setup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B1EDF6-B393-9B4D-9A12-E95FCD169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582" y="2910960"/>
            <a:ext cx="4100134" cy="1969815"/>
          </a:xfrm>
          <a:prstGeom prst="rect">
            <a:avLst/>
          </a:prstGeom>
        </p:spPr>
      </p:pic>
      <p:sp>
        <p:nvSpPr>
          <p:cNvPr id="4" name="Google Shape;697;p40">
            <a:extLst>
              <a:ext uri="{FF2B5EF4-FFF2-40B4-BE49-F238E27FC236}">
                <a16:creationId xmlns:a16="http://schemas.microsoft.com/office/drawing/2014/main" id="{F652112C-FA2B-34CC-724C-1E4D4AD9D6ED}"/>
              </a:ext>
            </a:extLst>
          </p:cNvPr>
          <p:cNvSpPr txBox="1">
            <a:spLocks/>
          </p:cNvSpPr>
          <p:nvPr/>
        </p:nvSpPr>
        <p:spPr>
          <a:xfrm>
            <a:off x="221232" y="2358413"/>
            <a:ext cx="4944300" cy="6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r>
              <a:rPr lang="en-US" sz="2400" dirty="0"/>
              <a:t>Grid Size 16x16x16</a:t>
            </a:r>
          </a:p>
        </p:txBody>
      </p:sp>
      <p:sp>
        <p:nvSpPr>
          <p:cNvPr id="5" name="Google Shape;342;p12">
            <a:extLst>
              <a:ext uri="{FF2B5EF4-FFF2-40B4-BE49-F238E27FC236}">
                <a16:creationId xmlns:a16="http://schemas.microsoft.com/office/drawing/2014/main" id="{58998687-601B-E8CB-98ED-B16E03B15713}"/>
              </a:ext>
            </a:extLst>
          </p:cNvPr>
          <p:cNvSpPr txBox="1">
            <a:spLocks/>
          </p:cNvSpPr>
          <p:nvPr/>
        </p:nvSpPr>
        <p:spPr>
          <a:xfrm>
            <a:off x="4454715" y="3895867"/>
            <a:ext cx="3686991" cy="88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pPr marL="285750" lvl="0" indent="-285750">
              <a:buSzPct val="100000"/>
              <a:buFont typeface="Wingdings" panose="05000000000000000000" pitchFamily="2" charset="2"/>
              <a:buChar char="q"/>
            </a:pPr>
            <a:r>
              <a:rPr lang="en-US" sz="2000" b="1" dirty="0"/>
              <a:t>Run-Time: 30 seconds</a:t>
            </a:r>
          </a:p>
          <a:p>
            <a:pPr marL="285750" lvl="0" indent="-285750">
              <a:buSzPct val="100000"/>
              <a:buFont typeface="Wingdings" panose="05000000000000000000" pitchFamily="2" charset="2"/>
              <a:buChar char="q"/>
            </a:pPr>
            <a:endParaRPr lang="en-PK" sz="2000" dirty="0"/>
          </a:p>
          <a:p>
            <a:pPr lvl="0">
              <a:buSzPct val="100000"/>
            </a:pPr>
            <a:endParaRPr lang="en-US" sz="2000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endParaRPr lang="en-PK" sz="1800" dirty="0"/>
          </a:p>
        </p:txBody>
      </p:sp>
      <p:sp>
        <p:nvSpPr>
          <p:cNvPr id="6" name="Google Shape;342;p12">
            <a:extLst>
              <a:ext uri="{FF2B5EF4-FFF2-40B4-BE49-F238E27FC236}">
                <a16:creationId xmlns:a16="http://schemas.microsoft.com/office/drawing/2014/main" id="{7B083A03-2D6A-1A5B-EBC9-020123A10D18}"/>
              </a:ext>
            </a:extLst>
          </p:cNvPr>
          <p:cNvSpPr txBox="1">
            <a:spLocks/>
          </p:cNvSpPr>
          <p:nvPr/>
        </p:nvSpPr>
        <p:spPr>
          <a:xfrm>
            <a:off x="4454715" y="4340623"/>
            <a:ext cx="3686991" cy="88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pPr marL="285750" lvl="0" indent="-285750">
              <a:buSzPct val="100000"/>
              <a:buFont typeface="Wingdings" panose="05000000000000000000" pitchFamily="2" charset="2"/>
              <a:buChar char="q"/>
            </a:pPr>
            <a:r>
              <a:rPr lang="en-US" sz="2000" b="1" dirty="0"/>
              <a:t>Two runs performed:</a:t>
            </a:r>
          </a:p>
          <a:p>
            <a:pPr marL="285750" lvl="0" indent="-285750">
              <a:buSzPct val="100000"/>
              <a:buFont typeface="Wingdings" panose="05000000000000000000" pitchFamily="2" charset="2"/>
              <a:buChar char="q"/>
            </a:pPr>
            <a:endParaRPr lang="en-PK" sz="2000" dirty="0"/>
          </a:p>
          <a:p>
            <a:pPr lvl="0">
              <a:buSzPct val="100000"/>
            </a:pPr>
            <a:endParaRPr lang="en-US" sz="2000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endParaRPr lang="en-PK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A4B1A2-5353-1820-0066-FEFE72AFA5FC}"/>
              </a:ext>
            </a:extLst>
          </p:cNvPr>
          <p:cNvSpPr txBox="1"/>
          <p:nvPr/>
        </p:nvSpPr>
        <p:spPr>
          <a:xfrm>
            <a:off x="4588066" y="3957445"/>
            <a:ext cx="32159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1" indent="-285750">
              <a:buClr>
                <a:srgbClr val="1BD8D5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19BBD5"/>
                </a:solidFill>
                <a:latin typeface="Aptos Display" panose="020B0004020202020204" pitchFamily="34" charset="0"/>
              </a:rPr>
              <a:t>Baseline: Original </a:t>
            </a:r>
            <a:r>
              <a:rPr lang="en-US" sz="2000" dirty="0" err="1">
                <a:solidFill>
                  <a:srgbClr val="19BBD5"/>
                </a:solidFill>
                <a:latin typeface="Aptos Display" panose="020B0004020202020204" pitchFamily="34" charset="0"/>
              </a:rPr>
              <a:t>SpMV</a:t>
            </a:r>
            <a:endParaRPr lang="en-PK" sz="2000" dirty="0">
              <a:solidFill>
                <a:srgbClr val="19BBD5"/>
              </a:solidFill>
              <a:latin typeface="Aptos Display" panose="020B0004020202020204" pitchFamily="34" charset="0"/>
            </a:endParaRPr>
          </a:p>
          <a:p>
            <a:pPr marL="285750" lvl="1" indent="-285750">
              <a:buClr>
                <a:srgbClr val="1BD8D5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19BBD5"/>
                </a:solidFill>
                <a:latin typeface="Aptos Display" panose="020B0004020202020204" pitchFamily="34" charset="0"/>
              </a:rPr>
              <a:t>Optimized: Unrolled </a:t>
            </a:r>
            <a:r>
              <a:rPr lang="en-US" sz="2000" dirty="0" err="1">
                <a:solidFill>
                  <a:srgbClr val="19BBD5"/>
                </a:solidFill>
                <a:latin typeface="Aptos Display" panose="020B0004020202020204" pitchFamily="34" charset="0"/>
              </a:rPr>
              <a:t>SpMV</a:t>
            </a:r>
            <a:endParaRPr lang="en-PK" sz="2000" dirty="0">
              <a:solidFill>
                <a:srgbClr val="19BBD5"/>
              </a:solidFill>
              <a:latin typeface="Aptos Display" panose="020B0004020202020204" pitchFamily="34" charset="0"/>
            </a:endParaRPr>
          </a:p>
          <a:p>
            <a:endParaRPr lang="en-PK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>
          <a:extLst>
            <a:ext uri="{FF2B5EF4-FFF2-40B4-BE49-F238E27FC236}">
              <a16:creationId xmlns:a16="http://schemas.microsoft.com/office/drawing/2014/main" id="{4732B73A-860D-F9E8-ED67-1AFE68C73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37">
            <a:extLst>
              <a:ext uri="{FF2B5EF4-FFF2-40B4-BE49-F238E27FC236}">
                <a16:creationId xmlns:a16="http://schemas.microsoft.com/office/drawing/2014/main" id="{1E6A14C8-3D8B-5DBD-2E9C-9B6D028E547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752599" y="155525"/>
            <a:ext cx="7568953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/>
              <a:t>BASELINE PERFORMANCE</a:t>
            </a:r>
            <a:endParaRPr sz="5400" dirty="0"/>
          </a:p>
        </p:txBody>
      </p:sp>
      <p:sp>
        <p:nvSpPr>
          <p:cNvPr id="617" name="Google Shape;617;p37">
            <a:extLst>
              <a:ext uri="{FF2B5EF4-FFF2-40B4-BE49-F238E27FC236}">
                <a16:creationId xmlns:a16="http://schemas.microsoft.com/office/drawing/2014/main" id="{CBCE2DE3-EDA5-D5C1-0BE2-EBE0EC7D3FD6}"/>
              </a:ext>
            </a:extLst>
          </p:cNvPr>
          <p:cNvSpPr txBox="1"/>
          <p:nvPr/>
        </p:nvSpPr>
        <p:spPr>
          <a:xfrm>
            <a:off x="409575" y="1676400"/>
            <a:ext cx="2067000" cy="17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rgbClr val="FFFFFF"/>
              </a:solidFill>
            </a:endParaRPr>
          </a:p>
        </p:txBody>
      </p:sp>
      <p:graphicFrame>
        <p:nvGraphicFramePr>
          <p:cNvPr id="439" name="Google Shape;439;p23"/>
          <p:cNvGraphicFramePr/>
          <p:nvPr>
            <p:extLst>
              <p:ext uri="{D42A27DB-BD31-4B8C-83A1-F6EECF244321}">
                <p14:modId xmlns:p14="http://schemas.microsoft.com/office/powerpoint/2010/main" val="3399982428"/>
              </p:ext>
            </p:extLst>
          </p:nvPr>
        </p:nvGraphicFramePr>
        <p:xfrm>
          <a:off x="1443073" y="1491449"/>
          <a:ext cx="4291902" cy="2265032"/>
        </p:xfrm>
        <a:graphic>
          <a:graphicData uri="http://schemas.openxmlformats.org/drawingml/2006/table">
            <a:tbl>
              <a:tblPr>
                <a:noFill/>
                <a:tableStyleId>{277F627C-A79C-4CEA-9F43-E7185F252452}</a:tableStyleId>
              </a:tblPr>
              <a:tblGrid>
                <a:gridCol w="2145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59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663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rgbClr val="C6DAEC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Metric</a:t>
                      </a:r>
                      <a:endParaRPr dirty="0">
                        <a:solidFill>
                          <a:srgbClr val="C6DAEC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19BBD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9BBD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9BBD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9BBD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C6DAEC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Value</a:t>
                      </a:r>
                      <a:endParaRPr dirty="0">
                        <a:solidFill>
                          <a:srgbClr val="C6DAEC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19BBD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9BBD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9BBD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9BBD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C6DAEC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SpMV Time</a:t>
                      </a:r>
                      <a:endParaRPr dirty="0">
                        <a:solidFill>
                          <a:srgbClr val="C6DAEC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19BBD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9BBD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9BBD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9BBD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8476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24.6904s</a:t>
                      </a:r>
                      <a:endParaRPr sz="1800" dirty="0">
                        <a:solidFill>
                          <a:srgbClr val="FFFFFF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19BBD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9BBD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9BBD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9BBD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847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C6DAEC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SpMV GFLOP/s</a:t>
                      </a:r>
                      <a:endParaRPr dirty="0">
                        <a:solidFill>
                          <a:srgbClr val="C6DAEC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19BBD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9BBD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9BBD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9BBD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0.123072</a:t>
                      </a:r>
                      <a:endParaRPr sz="1800" dirty="0">
                        <a:solidFill>
                          <a:srgbClr val="FFFFFF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19BBD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9BBD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9BBD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9BBD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C6DAEC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Total Time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19BBD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9BBD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9BBD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rgbClr val="19BBD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8476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157.837s</a:t>
                      </a:r>
                      <a:endParaRPr sz="1800" dirty="0">
                        <a:solidFill>
                          <a:srgbClr val="FFFFFF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19BBD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9BBD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9BBD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rgbClr val="19BBD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847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C6DAEC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Total GFLOP/s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19BBD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19BBD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9BBD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rgbClr val="19BBD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0.1307</a:t>
                      </a:r>
                      <a:endParaRPr sz="1800" dirty="0">
                        <a:solidFill>
                          <a:srgbClr val="FFFFFF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68575" marB="68575" anchor="ctr">
                    <a:lnL w="19050" cap="flat" cmpd="sng" algn="ctr">
                      <a:solidFill>
                        <a:srgbClr val="19BBD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9BBD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9BBD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rgbClr val="19BBD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4079978"/>
                  </a:ext>
                </a:extLst>
              </a:tr>
            </a:tbl>
          </a:graphicData>
        </a:graphic>
      </p:graphicFrame>
      <p:pic>
        <p:nvPicPr>
          <p:cNvPr id="3" name="Picture 2" descr="A spiral bound notebook with a light bulb on it&#10;&#10;AI-generated content may be incorrect.">
            <a:extLst>
              <a:ext uri="{FF2B5EF4-FFF2-40B4-BE49-F238E27FC236}">
                <a16:creationId xmlns:a16="http://schemas.microsoft.com/office/drawing/2014/main" id="{E0B2B082-E334-13FD-A292-A64560463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1417" y="898548"/>
            <a:ext cx="6219968" cy="408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121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43"/>
          <p:cNvSpPr txBox="1">
            <a:spLocks noGrp="1"/>
          </p:cNvSpPr>
          <p:nvPr>
            <p:ph type="title"/>
          </p:nvPr>
        </p:nvSpPr>
        <p:spPr>
          <a:xfrm>
            <a:off x="1732697" y="507003"/>
            <a:ext cx="6049225" cy="64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Optimized Performance</a:t>
            </a:r>
            <a:endParaRPr dirty="0"/>
          </a:p>
        </p:txBody>
      </p:sp>
      <p:grpSp>
        <p:nvGrpSpPr>
          <p:cNvPr id="764" name="Google Shape;764;p43"/>
          <p:cNvGrpSpPr/>
          <p:nvPr/>
        </p:nvGrpSpPr>
        <p:grpSpPr>
          <a:xfrm>
            <a:off x="962584" y="1753519"/>
            <a:ext cx="3282274" cy="2950827"/>
            <a:chOff x="3778727" y="4460423"/>
            <a:chExt cx="720160" cy="647438"/>
          </a:xfrm>
        </p:grpSpPr>
        <p:sp>
          <p:nvSpPr>
            <p:cNvPr id="765" name="Google Shape;765;p43"/>
            <p:cNvSpPr/>
            <p:nvPr/>
          </p:nvSpPr>
          <p:spPr>
            <a:xfrm>
              <a:off x="3957011" y="4902228"/>
              <a:ext cx="364723" cy="110621"/>
            </a:xfrm>
            <a:custGeom>
              <a:avLst/>
              <a:gdLst/>
              <a:ahLst/>
              <a:cxnLst/>
              <a:rect l="l" t="t" r="r" b="b"/>
              <a:pathLst>
                <a:path w="640" h="194" extrusionOk="0">
                  <a:moveTo>
                    <a:pt x="0" y="0"/>
                  </a:moveTo>
                  <a:cubicBezTo>
                    <a:pt x="63" y="130"/>
                    <a:pt x="63" y="130"/>
                    <a:pt x="63" y="130"/>
                  </a:cubicBezTo>
                  <a:cubicBezTo>
                    <a:pt x="64" y="130"/>
                    <a:pt x="64" y="130"/>
                    <a:pt x="64" y="130"/>
                  </a:cubicBezTo>
                  <a:cubicBezTo>
                    <a:pt x="64" y="130"/>
                    <a:pt x="64" y="130"/>
                    <a:pt x="64" y="131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93" y="170"/>
                    <a:pt x="188" y="194"/>
                    <a:pt x="320" y="194"/>
                  </a:cubicBezTo>
                  <a:cubicBezTo>
                    <a:pt x="452" y="194"/>
                    <a:pt x="547" y="170"/>
                    <a:pt x="571" y="143"/>
                  </a:cubicBezTo>
                  <a:cubicBezTo>
                    <a:pt x="577" y="131"/>
                    <a:pt x="577" y="131"/>
                    <a:pt x="577" y="131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640" y="0"/>
                    <a:pt x="640" y="0"/>
                    <a:pt x="640" y="0"/>
                  </a:cubicBezTo>
                  <a:cubicBezTo>
                    <a:pt x="587" y="29"/>
                    <a:pt x="452" y="46"/>
                    <a:pt x="320" y="46"/>
                  </a:cubicBezTo>
                  <a:cubicBezTo>
                    <a:pt x="189" y="46"/>
                    <a:pt x="53" y="29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200" b="1" i="0" u="none" strike="noStrike" cap="none" dirty="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766" name="Google Shape;766;p43"/>
            <p:cNvSpPr/>
            <p:nvPr/>
          </p:nvSpPr>
          <p:spPr>
            <a:xfrm>
              <a:off x="4002092" y="4999728"/>
              <a:ext cx="275015" cy="108132"/>
            </a:xfrm>
            <a:custGeom>
              <a:avLst/>
              <a:gdLst/>
              <a:ahLst/>
              <a:cxnLst/>
              <a:rect l="l" t="t" r="r" b="b"/>
              <a:pathLst>
                <a:path w="483" h="190" extrusionOk="0">
                  <a:moveTo>
                    <a:pt x="0" y="0"/>
                  </a:moveTo>
                  <a:cubicBezTo>
                    <a:pt x="61" y="125"/>
                    <a:pt x="61" y="125"/>
                    <a:pt x="61" y="125"/>
                  </a:cubicBezTo>
                  <a:cubicBezTo>
                    <a:pt x="62" y="126"/>
                    <a:pt x="62" y="127"/>
                    <a:pt x="63" y="128"/>
                  </a:cubicBezTo>
                  <a:cubicBezTo>
                    <a:pt x="70" y="144"/>
                    <a:pt x="70" y="144"/>
                    <a:pt x="70" y="144"/>
                  </a:cubicBezTo>
                  <a:cubicBezTo>
                    <a:pt x="93" y="170"/>
                    <a:pt x="162" y="190"/>
                    <a:pt x="241" y="190"/>
                  </a:cubicBezTo>
                  <a:cubicBezTo>
                    <a:pt x="320" y="190"/>
                    <a:pt x="389" y="170"/>
                    <a:pt x="412" y="144"/>
                  </a:cubicBezTo>
                  <a:cubicBezTo>
                    <a:pt x="420" y="128"/>
                    <a:pt x="420" y="128"/>
                    <a:pt x="420" y="128"/>
                  </a:cubicBezTo>
                  <a:cubicBezTo>
                    <a:pt x="421" y="127"/>
                    <a:pt x="421" y="126"/>
                    <a:pt x="421" y="125"/>
                  </a:cubicBezTo>
                  <a:cubicBezTo>
                    <a:pt x="483" y="0"/>
                    <a:pt x="483" y="0"/>
                    <a:pt x="483" y="0"/>
                  </a:cubicBezTo>
                  <a:cubicBezTo>
                    <a:pt x="437" y="26"/>
                    <a:pt x="338" y="41"/>
                    <a:pt x="241" y="41"/>
                  </a:cubicBezTo>
                  <a:cubicBezTo>
                    <a:pt x="144" y="41"/>
                    <a:pt x="45" y="2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200" b="1" i="0" u="none" strike="noStrike" cap="none" dirty="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767" name="Google Shape;767;p43"/>
            <p:cNvSpPr/>
            <p:nvPr/>
          </p:nvSpPr>
          <p:spPr>
            <a:xfrm>
              <a:off x="3780312" y="4519014"/>
              <a:ext cx="718575" cy="115145"/>
            </a:xfrm>
            <a:custGeom>
              <a:avLst/>
              <a:gdLst/>
              <a:ahLst/>
              <a:cxnLst/>
              <a:rect l="l" t="t" r="r" b="b"/>
              <a:pathLst>
                <a:path w="1261" h="202" extrusionOk="0">
                  <a:moveTo>
                    <a:pt x="630" y="53"/>
                  </a:moveTo>
                  <a:cubicBezTo>
                    <a:pt x="363" y="53"/>
                    <a:pt x="82" y="34"/>
                    <a:pt x="0" y="0"/>
                  </a:cubicBezTo>
                  <a:cubicBezTo>
                    <a:pt x="71" y="146"/>
                    <a:pt x="71" y="146"/>
                    <a:pt x="71" y="146"/>
                  </a:cubicBezTo>
                  <a:cubicBezTo>
                    <a:pt x="88" y="157"/>
                    <a:pt x="134" y="170"/>
                    <a:pt x="227" y="181"/>
                  </a:cubicBezTo>
                  <a:cubicBezTo>
                    <a:pt x="334" y="194"/>
                    <a:pt x="478" y="202"/>
                    <a:pt x="630" y="202"/>
                  </a:cubicBezTo>
                  <a:cubicBezTo>
                    <a:pt x="630" y="202"/>
                    <a:pt x="630" y="202"/>
                    <a:pt x="630" y="202"/>
                  </a:cubicBezTo>
                  <a:cubicBezTo>
                    <a:pt x="929" y="202"/>
                    <a:pt x="1147" y="174"/>
                    <a:pt x="1189" y="146"/>
                  </a:cubicBezTo>
                  <a:cubicBezTo>
                    <a:pt x="1261" y="0"/>
                    <a:pt x="1261" y="0"/>
                    <a:pt x="1261" y="0"/>
                  </a:cubicBezTo>
                  <a:cubicBezTo>
                    <a:pt x="1179" y="34"/>
                    <a:pt x="897" y="53"/>
                    <a:pt x="630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200" b="1" i="0" u="none" strike="noStrike" cap="none" dirty="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768" name="Google Shape;768;p43"/>
            <p:cNvSpPr/>
            <p:nvPr/>
          </p:nvSpPr>
          <p:spPr>
            <a:xfrm>
              <a:off x="3868662" y="4710395"/>
              <a:ext cx="541875" cy="112657"/>
            </a:xfrm>
            <a:custGeom>
              <a:avLst/>
              <a:gdLst/>
              <a:ahLst/>
              <a:cxnLst/>
              <a:rect l="l" t="t" r="r" b="b"/>
              <a:pathLst>
                <a:path w="951" h="198" extrusionOk="0">
                  <a:moveTo>
                    <a:pt x="0" y="0"/>
                  </a:moveTo>
                  <a:cubicBezTo>
                    <a:pt x="70" y="144"/>
                    <a:pt x="70" y="144"/>
                    <a:pt x="70" y="144"/>
                  </a:cubicBezTo>
                  <a:cubicBezTo>
                    <a:pt x="101" y="171"/>
                    <a:pt x="259" y="198"/>
                    <a:pt x="475" y="198"/>
                  </a:cubicBezTo>
                  <a:cubicBezTo>
                    <a:pt x="692" y="198"/>
                    <a:pt x="849" y="171"/>
                    <a:pt x="881" y="144"/>
                  </a:cubicBezTo>
                  <a:cubicBezTo>
                    <a:pt x="951" y="0"/>
                    <a:pt x="951" y="0"/>
                    <a:pt x="951" y="0"/>
                  </a:cubicBezTo>
                  <a:cubicBezTo>
                    <a:pt x="881" y="32"/>
                    <a:pt x="673" y="50"/>
                    <a:pt x="475" y="50"/>
                  </a:cubicBezTo>
                  <a:cubicBezTo>
                    <a:pt x="277" y="50"/>
                    <a:pt x="69" y="32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200" b="1" i="0" u="none" strike="noStrike" cap="none" dirty="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769" name="Google Shape;769;p43"/>
            <p:cNvSpPr/>
            <p:nvPr/>
          </p:nvSpPr>
          <p:spPr>
            <a:xfrm>
              <a:off x="3824940" y="4614704"/>
              <a:ext cx="629543" cy="114014"/>
            </a:xfrm>
            <a:custGeom>
              <a:avLst/>
              <a:gdLst/>
              <a:ahLst/>
              <a:cxnLst/>
              <a:rect l="l" t="t" r="r" b="b"/>
              <a:pathLst>
                <a:path w="1105" h="200" extrusionOk="0">
                  <a:moveTo>
                    <a:pt x="552" y="51"/>
                  </a:moveTo>
                  <a:cubicBezTo>
                    <a:pt x="399" y="51"/>
                    <a:pt x="255" y="44"/>
                    <a:pt x="147" y="31"/>
                  </a:cubicBezTo>
                  <a:cubicBezTo>
                    <a:pt x="76" y="22"/>
                    <a:pt x="26" y="12"/>
                    <a:pt x="0" y="0"/>
                  </a:cubicBezTo>
                  <a:cubicBezTo>
                    <a:pt x="70" y="145"/>
                    <a:pt x="70" y="145"/>
                    <a:pt x="70" y="145"/>
                  </a:cubicBezTo>
                  <a:cubicBezTo>
                    <a:pt x="108" y="173"/>
                    <a:pt x="296" y="200"/>
                    <a:pt x="552" y="200"/>
                  </a:cubicBezTo>
                  <a:cubicBezTo>
                    <a:pt x="809" y="200"/>
                    <a:pt x="996" y="173"/>
                    <a:pt x="1034" y="145"/>
                  </a:cubicBezTo>
                  <a:cubicBezTo>
                    <a:pt x="1105" y="0"/>
                    <a:pt x="1105" y="0"/>
                    <a:pt x="1105" y="0"/>
                  </a:cubicBezTo>
                  <a:cubicBezTo>
                    <a:pt x="1030" y="33"/>
                    <a:pt x="785" y="51"/>
                    <a:pt x="552" y="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200" b="1" i="0" u="none" strike="noStrike" cap="none" dirty="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770" name="Google Shape;770;p43"/>
            <p:cNvSpPr/>
            <p:nvPr/>
          </p:nvSpPr>
          <p:spPr>
            <a:xfrm>
              <a:off x="3912610" y="4806085"/>
              <a:ext cx="453525" cy="112204"/>
            </a:xfrm>
            <a:custGeom>
              <a:avLst/>
              <a:gdLst/>
              <a:ahLst/>
              <a:cxnLst/>
              <a:rect l="l" t="t" r="r" b="b"/>
              <a:pathLst>
                <a:path w="796" h="197" extrusionOk="0">
                  <a:moveTo>
                    <a:pt x="0" y="0"/>
                  </a:moveTo>
                  <a:cubicBezTo>
                    <a:pt x="65" y="132"/>
                    <a:pt x="65" y="132"/>
                    <a:pt x="65" y="132"/>
                  </a:cubicBezTo>
                  <a:cubicBezTo>
                    <a:pt x="65" y="132"/>
                    <a:pt x="65" y="132"/>
                    <a:pt x="65" y="132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0" y="142"/>
                    <a:pt x="70" y="142"/>
                    <a:pt x="70" y="142"/>
                  </a:cubicBezTo>
                  <a:cubicBezTo>
                    <a:pt x="95" y="170"/>
                    <a:pt x="221" y="197"/>
                    <a:pt x="398" y="197"/>
                  </a:cubicBezTo>
                  <a:cubicBezTo>
                    <a:pt x="576" y="197"/>
                    <a:pt x="702" y="170"/>
                    <a:pt x="727" y="142"/>
                  </a:cubicBezTo>
                  <a:cubicBezTo>
                    <a:pt x="732" y="133"/>
                    <a:pt x="732" y="133"/>
                    <a:pt x="732" y="133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96" y="0"/>
                    <a:pt x="796" y="0"/>
                    <a:pt x="796" y="0"/>
                  </a:cubicBezTo>
                  <a:cubicBezTo>
                    <a:pt x="735" y="31"/>
                    <a:pt x="562" y="48"/>
                    <a:pt x="398" y="48"/>
                  </a:cubicBezTo>
                  <a:cubicBezTo>
                    <a:pt x="234" y="48"/>
                    <a:pt x="62" y="31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200" b="1" i="0" u="none" strike="noStrike" cap="none" dirty="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771" name="Google Shape;771;p43"/>
            <p:cNvSpPr/>
            <p:nvPr/>
          </p:nvSpPr>
          <p:spPr>
            <a:xfrm>
              <a:off x="3778727" y="4460423"/>
              <a:ext cx="719100" cy="79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200" b="1" i="0" u="none" strike="noStrike" cap="none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</p:grpSp>
      <p:cxnSp>
        <p:nvCxnSpPr>
          <p:cNvPr id="772" name="Google Shape;772;p43"/>
          <p:cNvCxnSpPr/>
          <p:nvPr/>
        </p:nvCxnSpPr>
        <p:spPr>
          <a:xfrm>
            <a:off x="4172302" y="2242199"/>
            <a:ext cx="9615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773" name="Google Shape;773;p43"/>
          <p:cNvSpPr txBox="1"/>
          <p:nvPr/>
        </p:nvSpPr>
        <p:spPr>
          <a:xfrm>
            <a:off x="5208822" y="2085689"/>
            <a:ext cx="25350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SpMV time: 24.4821s</a:t>
            </a:r>
            <a:endParaRPr sz="1800" dirty="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775" name="Google Shape;775;p43"/>
          <p:cNvSpPr txBox="1"/>
          <p:nvPr/>
        </p:nvSpPr>
        <p:spPr>
          <a:xfrm>
            <a:off x="5189772" y="2523802"/>
            <a:ext cx="25350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776" name="Google Shape;776;p43"/>
          <p:cNvCxnSpPr/>
          <p:nvPr/>
        </p:nvCxnSpPr>
        <p:spPr>
          <a:xfrm>
            <a:off x="3842185" y="2896221"/>
            <a:ext cx="1304100" cy="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777" name="Google Shape;777;p43"/>
          <p:cNvSpPr txBox="1"/>
          <p:nvPr/>
        </p:nvSpPr>
        <p:spPr>
          <a:xfrm>
            <a:off x="5208822" y="2716505"/>
            <a:ext cx="25350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800" dirty="0" err="1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SpMV</a:t>
            </a:r>
            <a:r>
              <a:rPr lang="en-US" sz="1800" dirty="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GFLOP/s: 0.124118</a:t>
            </a:r>
          </a:p>
        </p:txBody>
      </p:sp>
      <p:sp>
        <p:nvSpPr>
          <p:cNvPr id="779" name="Google Shape;779;p43"/>
          <p:cNvSpPr txBox="1"/>
          <p:nvPr/>
        </p:nvSpPr>
        <p:spPr>
          <a:xfrm>
            <a:off x="5189772" y="3400026"/>
            <a:ext cx="25350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780" name="Google Shape;780;p43"/>
          <p:cNvCxnSpPr/>
          <p:nvPr/>
        </p:nvCxnSpPr>
        <p:spPr>
          <a:xfrm>
            <a:off x="3527772" y="3556476"/>
            <a:ext cx="1662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781" name="Google Shape;781;p43"/>
          <p:cNvSpPr txBox="1"/>
          <p:nvPr/>
        </p:nvSpPr>
        <p:spPr>
          <a:xfrm>
            <a:off x="5246922" y="3400026"/>
            <a:ext cx="25350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Total time: 165.699s</a:t>
            </a:r>
            <a:endParaRPr sz="1800" dirty="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782" name="Google Shape;782;p43"/>
          <p:cNvCxnSpPr/>
          <p:nvPr/>
        </p:nvCxnSpPr>
        <p:spPr>
          <a:xfrm>
            <a:off x="3285802" y="4211508"/>
            <a:ext cx="18480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783" name="Google Shape;783;p43"/>
          <p:cNvSpPr txBox="1"/>
          <p:nvPr/>
        </p:nvSpPr>
        <p:spPr>
          <a:xfrm>
            <a:off x="5189772" y="4055058"/>
            <a:ext cx="25350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Total GFLOP/s: 0.124442</a:t>
            </a:r>
            <a:endParaRPr sz="1800" dirty="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41"/>
          <p:cNvSpPr>
            <a:spLocks/>
          </p:cNvSpPr>
          <p:nvPr/>
        </p:nvSpPr>
        <p:spPr>
          <a:xfrm>
            <a:off x="4655735" y="3291942"/>
            <a:ext cx="3657900" cy="1378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371600" tIns="91425" rIns="91425" bIns="91425" anchor="b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2800" b="1" dirty="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Kernel-level Improvement achieved</a:t>
            </a:r>
            <a:endParaRPr sz="2800" dirty="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704" name="Google Shape;704;p41"/>
          <p:cNvSpPr txBox="1">
            <a:spLocks noGrp="1"/>
          </p:cNvSpPr>
          <p:nvPr>
            <p:ph type="title"/>
          </p:nvPr>
        </p:nvSpPr>
        <p:spPr>
          <a:xfrm>
            <a:off x="1749996" y="477313"/>
            <a:ext cx="6954100" cy="64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PERFORMANCE COMPARISON</a:t>
            </a:r>
            <a:endParaRPr dirty="0"/>
          </a:p>
        </p:txBody>
      </p:sp>
      <p:sp>
        <p:nvSpPr>
          <p:cNvPr id="706" name="Google Shape;706;p41"/>
          <p:cNvSpPr/>
          <p:nvPr/>
        </p:nvSpPr>
        <p:spPr>
          <a:xfrm>
            <a:off x="846400" y="1762650"/>
            <a:ext cx="3657900" cy="1378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137160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SpMV became Faster</a:t>
            </a:r>
            <a:endParaRPr sz="2800" b="1" dirty="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707" name="Google Shape;707;p41"/>
          <p:cNvSpPr/>
          <p:nvPr/>
        </p:nvSpPr>
        <p:spPr>
          <a:xfrm>
            <a:off x="4655735" y="1762650"/>
            <a:ext cx="3657900" cy="1378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371600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b="1" dirty="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SpMV GFLOP/s Increased</a:t>
            </a:r>
            <a:endParaRPr sz="2800" b="1" dirty="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708" name="Google Shape;708;p41"/>
          <p:cNvSpPr/>
          <p:nvPr/>
        </p:nvSpPr>
        <p:spPr>
          <a:xfrm>
            <a:off x="846400" y="3291942"/>
            <a:ext cx="3657900" cy="1378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1371600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b="1" dirty="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Total HPCG Score slightly decreased</a:t>
            </a:r>
            <a:endParaRPr sz="2800" dirty="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710" name="Google Shape;710;p41"/>
          <p:cNvSpPr/>
          <p:nvPr/>
        </p:nvSpPr>
        <p:spPr>
          <a:xfrm>
            <a:off x="3454355" y="2088762"/>
            <a:ext cx="2102100" cy="21021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41"/>
          <p:cNvSpPr/>
          <p:nvPr/>
        </p:nvSpPr>
        <p:spPr>
          <a:xfrm rot="5400000">
            <a:off x="3605829" y="2088762"/>
            <a:ext cx="2102100" cy="21021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41"/>
          <p:cNvSpPr/>
          <p:nvPr/>
        </p:nvSpPr>
        <p:spPr>
          <a:xfrm rot="10800000">
            <a:off x="3605829" y="2241436"/>
            <a:ext cx="2102100" cy="21021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41"/>
          <p:cNvSpPr/>
          <p:nvPr/>
        </p:nvSpPr>
        <p:spPr>
          <a:xfrm rot="-5400000">
            <a:off x="3454355" y="2241436"/>
            <a:ext cx="2102100" cy="21021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41"/>
          <p:cNvSpPr/>
          <p:nvPr/>
        </p:nvSpPr>
        <p:spPr>
          <a:xfrm>
            <a:off x="3938294" y="2527233"/>
            <a:ext cx="279296" cy="386712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endParaRPr b="0" i="0" dirty="0">
              <a:ln>
                <a:noFill/>
              </a:ln>
              <a:solidFill>
                <a:schemeClr val="dk1"/>
              </a:solidFill>
              <a:latin typeface="Nixie One"/>
            </a:endParaRPr>
          </a:p>
        </p:txBody>
      </p:sp>
      <p:sp>
        <p:nvSpPr>
          <p:cNvPr id="715" name="Google Shape;715;p41"/>
          <p:cNvSpPr/>
          <p:nvPr/>
        </p:nvSpPr>
        <p:spPr>
          <a:xfrm>
            <a:off x="4821530" y="2533946"/>
            <a:ext cx="554832" cy="381341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endParaRPr b="0" i="0" dirty="0">
              <a:ln>
                <a:noFill/>
              </a:ln>
              <a:solidFill>
                <a:schemeClr val="dk1"/>
              </a:solidFill>
              <a:latin typeface="Nixie One"/>
            </a:endParaRPr>
          </a:p>
        </p:txBody>
      </p:sp>
      <p:sp>
        <p:nvSpPr>
          <p:cNvPr id="716" name="Google Shape;716;p41"/>
          <p:cNvSpPr/>
          <p:nvPr/>
        </p:nvSpPr>
        <p:spPr>
          <a:xfrm>
            <a:off x="3908216" y="3489399"/>
            <a:ext cx="359862" cy="386712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endParaRPr b="0" i="0" dirty="0">
              <a:ln>
                <a:noFill/>
              </a:ln>
              <a:solidFill>
                <a:schemeClr val="dk1"/>
              </a:solidFill>
              <a:latin typeface="Nixie One"/>
            </a:endParaRPr>
          </a:p>
        </p:txBody>
      </p:sp>
      <p:sp>
        <p:nvSpPr>
          <p:cNvPr id="717" name="Google Shape;717;p41"/>
          <p:cNvSpPr/>
          <p:nvPr/>
        </p:nvSpPr>
        <p:spPr>
          <a:xfrm>
            <a:off x="4920895" y="3496112"/>
            <a:ext cx="306151" cy="37597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endParaRPr b="0" i="0" dirty="0">
              <a:ln>
                <a:noFill/>
              </a:ln>
              <a:solidFill>
                <a:schemeClr val="dk1"/>
              </a:solidFill>
              <a:latin typeface="Nixie On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33"/>
          <p:cNvSpPr txBox="1">
            <a:spLocks noGrp="1"/>
          </p:cNvSpPr>
          <p:nvPr>
            <p:ph type="body" idx="4294967295"/>
          </p:nvPr>
        </p:nvSpPr>
        <p:spPr>
          <a:xfrm>
            <a:off x="1499598" y="-711105"/>
            <a:ext cx="7873002" cy="179005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600" b="1" dirty="0">
                <a:solidFill>
                  <a:srgbClr val="19BBD5"/>
                </a:solidFill>
              </a:rPr>
              <a:t>WHY TOTAL HPCG SCORE DECREASED</a:t>
            </a:r>
            <a:endParaRPr sz="3600" b="1" dirty="0">
              <a:solidFill>
                <a:srgbClr val="19BBD5"/>
              </a:solidFill>
            </a:endParaRPr>
          </a:p>
        </p:txBody>
      </p:sp>
      <p:grpSp>
        <p:nvGrpSpPr>
          <p:cNvPr id="577" name="Google Shape;577;p33"/>
          <p:cNvGrpSpPr/>
          <p:nvPr/>
        </p:nvGrpSpPr>
        <p:grpSpPr>
          <a:xfrm>
            <a:off x="707161" y="503826"/>
            <a:ext cx="318996" cy="307211"/>
            <a:chOff x="2583325" y="2972875"/>
            <a:chExt cx="462850" cy="445750"/>
          </a:xfrm>
        </p:grpSpPr>
        <p:sp>
          <p:nvSpPr>
            <p:cNvPr id="578" name="Google Shape;578;p33"/>
            <p:cNvSpPr/>
            <p:nvPr/>
          </p:nvSpPr>
          <p:spPr>
            <a:xfrm>
              <a:off x="2701775" y="3323350"/>
              <a:ext cx="225950" cy="95275"/>
            </a:xfrm>
            <a:custGeom>
              <a:avLst/>
              <a:gdLst/>
              <a:ahLst/>
              <a:cxnLst/>
              <a:rect l="l" t="t" r="r" b="b"/>
              <a:pathLst>
                <a:path w="9038" h="3811" extrusionOk="0">
                  <a:moveTo>
                    <a:pt x="2956" y="1"/>
                  </a:moveTo>
                  <a:lnTo>
                    <a:pt x="2956" y="2956"/>
                  </a:lnTo>
                  <a:lnTo>
                    <a:pt x="685" y="2956"/>
                  </a:lnTo>
                  <a:lnTo>
                    <a:pt x="514" y="3005"/>
                  </a:lnTo>
                  <a:lnTo>
                    <a:pt x="367" y="3103"/>
                  </a:lnTo>
                  <a:lnTo>
                    <a:pt x="245" y="3200"/>
                  </a:lnTo>
                  <a:lnTo>
                    <a:pt x="147" y="3322"/>
                  </a:lnTo>
                  <a:lnTo>
                    <a:pt x="50" y="3469"/>
                  </a:lnTo>
                  <a:lnTo>
                    <a:pt x="1" y="3640"/>
                  </a:lnTo>
                  <a:lnTo>
                    <a:pt x="1" y="3811"/>
                  </a:lnTo>
                  <a:lnTo>
                    <a:pt x="9037" y="3811"/>
                  </a:lnTo>
                  <a:lnTo>
                    <a:pt x="9037" y="3640"/>
                  </a:lnTo>
                  <a:lnTo>
                    <a:pt x="8988" y="3469"/>
                  </a:lnTo>
                  <a:lnTo>
                    <a:pt x="8891" y="3322"/>
                  </a:lnTo>
                  <a:lnTo>
                    <a:pt x="8793" y="3200"/>
                  </a:lnTo>
                  <a:lnTo>
                    <a:pt x="8671" y="3103"/>
                  </a:lnTo>
                  <a:lnTo>
                    <a:pt x="8524" y="3005"/>
                  </a:lnTo>
                  <a:lnTo>
                    <a:pt x="8353" y="2956"/>
                  </a:lnTo>
                  <a:lnTo>
                    <a:pt x="6082" y="2956"/>
                  </a:lnTo>
                  <a:lnTo>
                    <a:pt x="60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3"/>
            <p:cNvSpPr/>
            <p:nvPr/>
          </p:nvSpPr>
          <p:spPr>
            <a:xfrm>
              <a:off x="2583325" y="2972875"/>
              <a:ext cx="462850" cy="337075"/>
            </a:xfrm>
            <a:custGeom>
              <a:avLst/>
              <a:gdLst/>
              <a:ahLst/>
              <a:cxnLst/>
              <a:rect l="l" t="t" r="r" b="b"/>
              <a:pathLst>
                <a:path w="18514" h="13483" extrusionOk="0">
                  <a:moveTo>
                    <a:pt x="17048" y="1466"/>
                  </a:moveTo>
                  <a:lnTo>
                    <a:pt x="17048" y="12017"/>
                  </a:lnTo>
                  <a:lnTo>
                    <a:pt x="1466" y="12017"/>
                  </a:lnTo>
                  <a:lnTo>
                    <a:pt x="1466" y="1466"/>
                  </a:lnTo>
                  <a:close/>
                  <a:moveTo>
                    <a:pt x="391" y="1"/>
                  </a:moveTo>
                  <a:lnTo>
                    <a:pt x="318" y="50"/>
                  </a:lnTo>
                  <a:lnTo>
                    <a:pt x="220" y="74"/>
                  </a:lnTo>
                  <a:lnTo>
                    <a:pt x="147" y="148"/>
                  </a:lnTo>
                  <a:lnTo>
                    <a:pt x="98" y="221"/>
                  </a:lnTo>
                  <a:lnTo>
                    <a:pt x="49" y="294"/>
                  </a:lnTo>
                  <a:lnTo>
                    <a:pt x="25" y="392"/>
                  </a:lnTo>
                  <a:lnTo>
                    <a:pt x="1" y="489"/>
                  </a:lnTo>
                  <a:lnTo>
                    <a:pt x="1" y="12994"/>
                  </a:lnTo>
                  <a:lnTo>
                    <a:pt x="25" y="13092"/>
                  </a:lnTo>
                  <a:lnTo>
                    <a:pt x="49" y="13189"/>
                  </a:lnTo>
                  <a:lnTo>
                    <a:pt x="98" y="13263"/>
                  </a:lnTo>
                  <a:lnTo>
                    <a:pt x="147" y="13336"/>
                  </a:lnTo>
                  <a:lnTo>
                    <a:pt x="220" y="13409"/>
                  </a:lnTo>
                  <a:lnTo>
                    <a:pt x="318" y="13434"/>
                  </a:lnTo>
                  <a:lnTo>
                    <a:pt x="391" y="13483"/>
                  </a:lnTo>
                  <a:lnTo>
                    <a:pt x="18123" y="13483"/>
                  </a:lnTo>
                  <a:lnTo>
                    <a:pt x="18196" y="13434"/>
                  </a:lnTo>
                  <a:lnTo>
                    <a:pt x="18293" y="13409"/>
                  </a:lnTo>
                  <a:lnTo>
                    <a:pt x="18367" y="13336"/>
                  </a:lnTo>
                  <a:lnTo>
                    <a:pt x="18416" y="13263"/>
                  </a:lnTo>
                  <a:lnTo>
                    <a:pt x="18464" y="13189"/>
                  </a:lnTo>
                  <a:lnTo>
                    <a:pt x="18489" y="13092"/>
                  </a:lnTo>
                  <a:lnTo>
                    <a:pt x="18513" y="12994"/>
                  </a:lnTo>
                  <a:lnTo>
                    <a:pt x="18513" y="489"/>
                  </a:lnTo>
                  <a:lnTo>
                    <a:pt x="18489" y="392"/>
                  </a:lnTo>
                  <a:lnTo>
                    <a:pt x="18464" y="294"/>
                  </a:lnTo>
                  <a:lnTo>
                    <a:pt x="18416" y="221"/>
                  </a:lnTo>
                  <a:lnTo>
                    <a:pt x="18367" y="148"/>
                  </a:lnTo>
                  <a:lnTo>
                    <a:pt x="18293" y="74"/>
                  </a:lnTo>
                  <a:lnTo>
                    <a:pt x="18196" y="50"/>
                  </a:lnTo>
                  <a:lnTo>
                    <a:pt x="181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1" name="Google Shape;581;p33"/>
          <p:cNvGrpSpPr/>
          <p:nvPr/>
        </p:nvGrpSpPr>
        <p:grpSpPr>
          <a:xfrm>
            <a:off x="3438912" y="1241123"/>
            <a:ext cx="5041613" cy="2953821"/>
            <a:chOff x="3438912" y="1241123"/>
            <a:chExt cx="5041613" cy="2953821"/>
          </a:xfrm>
        </p:grpSpPr>
        <p:sp>
          <p:nvSpPr>
            <p:cNvPr id="582" name="Google Shape;582;p33"/>
            <p:cNvSpPr/>
            <p:nvPr/>
          </p:nvSpPr>
          <p:spPr>
            <a:xfrm>
              <a:off x="3851203" y="1241123"/>
              <a:ext cx="4215484" cy="2821676"/>
            </a:xfrm>
            <a:custGeom>
              <a:avLst/>
              <a:gdLst/>
              <a:ahLst/>
              <a:cxnLst/>
              <a:rect l="l" t="t" r="r" b="b"/>
              <a:pathLst>
                <a:path w="5161606" h="3454973" extrusionOk="0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33"/>
            <p:cNvSpPr/>
            <p:nvPr/>
          </p:nvSpPr>
          <p:spPr>
            <a:xfrm>
              <a:off x="3438912" y="4117212"/>
              <a:ext cx="5041613" cy="77732"/>
            </a:xfrm>
            <a:custGeom>
              <a:avLst/>
              <a:gdLst/>
              <a:ahLst/>
              <a:cxnLst/>
              <a:rect l="l" t="t" r="r" b="b"/>
              <a:pathLst>
                <a:path w="6173152" h="95178" extrusionOk="0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33"/>
            <p:cNvSpPr/>
            <p:nvPr/>
          </p:nvSpPr>
          <p:spPr>
            <a:xfrm>
              <a:off x="3438912" y="4055026"/>
              <a:ext cx="5040836" cy="62185"/>
            </a:xfrm>
            <a:custGeom>
              <a:avLst/>
              <a:gdLst/>
              <a:ahLst/>
              <a:cxnLst/>
              <a:rect l="l" t="t" r="r" b="b"/>
              <a:pathLst>
                <a:path w="6172200" h="76142" extrusionOk="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33"/>
            <p:cNvSpPr/>
            <p:nvPr/>
          </p:nvSpPr>
          <p:spPr>
            <a:xfrm>
              <a:off x="5585935" y="4055026"/>
              <a:ext cx="738233" cy="38866"/>
            </a:xfrm>
            <a:custGeom>
              <a:avLst/>
              <a:gdLst/>
              <a:ahLst/>
              <a:cxnLst/>
              <a:rect l="l" t="t" r="r" b="b"/>
              <a:pathLst>
                <a:path w="903922" h="47589" extrusionOk="0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3393E2"/>
                </a:gs>
                <a:gs pos="100000">
                  <a:srgbClr val="00E2C7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86" name="Google Shape;586;p33"/>
          <p:cNvPicPr preferRelativeResize="0"/>
          <p:nvPr/>
        </p:nvPicPr>
        <p:blipFill rotWithShape="1">
          <a:blip r:embed="rId3">
            <a:alphaModFix/>
          </a:blip>
          <a:srcRect b="6620"/>
          <a:stretch/>
        </p:blipFill>
        <p:spPr>
          <a:xfrm>
            <a:off x="4001864" y="1403979"/>
            <a:ext cx="3918761" cy="248927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FE37B0E-AC69-3844-6A5A-24BBDDC38679}"/>
              </a:ext>
            </a:extLst>
          </p:cNvPr>
          <p:cNvSpPr/>
          <p:nvPr/>
        </p:nvSpPr>
        <p:spPr>
          <a:xfrm>
            <a:off x="4001864" y="1403978"/>
            <a:ext cx="3918762" cy="2488874"/>
          </a:xfrm>
          <a:prstGeom prst="rect">
            <a:avLst/>
          </a:prstGeom>
          <a:solidFill>
            <a:srgbClr val="1847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Google Shape;342;p12">
            <a:extLst>
              <a:ext uri="{FF2B5EF4-FFF2-40B4-BE49-F238E27FC236}">
                <a16:creationId xmlns:a16="http://schemas.microsoft.com/office/drawing/2014/main" id="{73930B71-24C3-A7EB-7C85-352D80697EC4}"/>
              </a:ext>
            </a:extLst>
          </p:cNvPr>
          <p:cNvSpPr txBox="1">
            <a:spLocks/>
          </p:cNvSpPr>
          <p:nvPr/>
        </p:nvSpPr>
        <p:spPr>
          <a:xfrm>
            <a:off x="277289" y="3042910"/>
            <a:ext cx="2706548" cy="429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pPr marL="285750" lvl="0" indent="-285750">
              <a:buSzPct val="100000"/>
              <a:buFont typeface="Wingdings" panose="05000000000000000000" pitchFamily="2" charset="2"/>
              <a:buChar char="q"/>
            </a:pPr>
            <a:r>
              <a:rPr lang="en-US" sz="1800" b="1" dirty="0"/>
              <a:t>HPCG includes:</a:t>
            </a:r>
          </a:p>
          <a:p>
            <a:pPr marL="285750" lvl="0" indent="-285750">
              <a:buSzPct val="100000"/>
              <a:buFont typeface="Wingdings" panose="05000000000000000000" pitchFamily="2" charset="2"/>
              <a:buChar char="q"/>
            </a:pPr>
            <a:endParaRPr lang="en-PK" sz="2000" dirty="0"/>
          </a:p>
          <a:p>
            <a:pPr lvl="0">
              <a:buSzPct val="100000"/>
            </a:pPr>
            <a:endParaRPr lang="en-US" sz="2000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endParaRPr lang="en-PK" sz="1800" dirty="0"/>
          </a:p>
        </p:txBody>
      </p:sp>
      <p:sp>
        <p:nvSpPr>
          <p:cNvPr id="4" name="Google Shape;342;p12">
            <a:extLst>
              <a:ext uri="{FF2B5EF4-FFF2-40B4-BE49-F238E27FC236}">
                <a16:creationId xmlns:a16="http://schemas.microsoft.com/office/drawing/2014/main" id="{3E0171E8-365C-4D53-67C5-7635F4A528FB}"/>
              </a:ext>
            </a:extLst>
          </p:cNvPr>
          <p:cNvSpPr txBox="1">
            <a:spLocks/>
          </p:cNvSpPr>
          <p:nvPr/>
        </p:nvSpPr>
        <p:spPr>
          <a:xfrm>
            <a:off x="277289" y="5348706"/>
            <a:ext cx="2706548" cy="429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 b="0" i="0" u="none" strike="noStrike" cap="none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pPr marL="285750" lvl="0" indent="-285750">
              <a:buSzPct val="100000"/>
              <a:buFont typeface="Wingdings" panose="05000000000000000000" pitchFamily="2" charset="2"/>
              <a:buChar char="q"/>
            </a:pPr>
            <a:r>
              <a:rPr lang="en-US" sz="1800" b="1" dirty="0" err="1"/>
              <a:t>SpMV</a:t>
            </a:r>
            <a:r>
              <a:rPr lang="en-US" sz="1800" b="1" dirty="0"/>
              <a:t> is memory-bandwidth bound</a:t>
            </a:r>
          </a:p>
          <a:p>
            <a:pPr marL="285750" lvl="0" indent="-285750">
              <a:buSzPct val="100000"/>
              <a:buFont typeface="Wingdings" panose="05000000000000000000" pitchFamily="2" charset="2"/>
              <a:buChar char="q"/>
            </a:pPr>
            <a:r>
              <a:rPr lang="en-US" sz="1800" b="1" dirty="0"/>
              <a:t>CPU optimization alone gives limited global gains</a:t>
            </a:r>
          </a:p>
          <a:p>
            <a:pPr marL="285750" lvl="0" indent="-285750">
              <a:buSzPct val="100000"/>
              <a:buFont typeface="Wingdings" panose="05000000000000000000" pitchFamily="2" charset="2"/>
              <a:buChar char="q"/>
            </a:pPr>
            <a:endParaRPr lang="en-PK" sz="2000" dirty="0"/>
          </a:p>
          <a:p>
            <a:pPr lvl="0">
              <a:buSzPct val="100000"/>
            </a:pPr>
            <a:endParaRPr lang="en-US" sz="2000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endParaRPr lang="en-PK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1B57ED-C911-10AC-724A-AF1200AD1C85}"/>
              </a:ext>
            </a:extLst>
          </p:cNvPr>
          <p:cNvSpPr txBox="1"/>
          <p:nvPr/>
        </p:nvSpPr>
        <p:spPr>
          <a:xfrm>
            <a:off x="427950" y="2251778"/>
            <a:ext cx="2706548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buClr>
                <a:srgbClr val="1BD8D5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19BBD5"/>
                </a:solidFill>
                <a:latin typeface="Aptos Display" panose="020B0004020202020204" pitchFamily="34" charset="0"/>
              </a:rPr>
              <a:t>Multigrid</a:t>
            </a:r>
            <a:endParaRPr lang="en-PK" sz="1600" dirty="0">
              <a:solidFill>
                <a:srgbClr val="19BBD5"/>
              </a:solidFill>
              <a:latin typeface="Aptos Display" panose="020B0004020202020204" pitchFamily="34" charset="0"/>
            </a:endParaRPr>
          </a:p>
          <a:p>
            <a:pPr marL="285750" lvl="1" indent="-285750">
              <a:buClr>
                <a:srgbClr val="1BD8D5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19BBD5"/>
                </a:solidFill>
                <a:latin typeface="Aptos Display" panose="020B0004020202020204" pitchFamily="34" charset="0"/>
              </a:rPr>
              <a:t>Dot products</a:t>
            </a:r>
            <a:endParaRPr lang="en-PK" sz="1600" dirty="0">
              <a:solidFill>
                <a:srgbClr val="19BBD5"/>
              </a:solidFill>
              <a:latin typeface="Aptos Display" panose="020B0004020202020204" pitchFamily="34" charset="0"/>
            </a:endParaRPr>
          </a:p>
          <a:p>
            <a:pPr marL="285750" lvl="1" indent="-285750">
              <a:buClr>
                <a:srgbClr val="1BD8D5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19BBD5"/>
                </a:solidFill>
                <a:latin typeface="Aptos Display" panose="020B0004020202020204" pitchFamily="34" charset="0"/>
              </a:rPr>
              <a:t>Vector updates</a:t>
            </a:r>
            <a:endParaRPr lang="en-PK" sz="1600" dirty="0">
              <a:solidFill>
                <a:srgbClr val="19BBD5"/>
              </a:solidFill>
              <a:latin typeface="Aptos Display" panose="020B0004020202020204" pitchFamily="34" charset="0"/>
            </a:endParaRPr>
          </a:p>
          <a:p>
            <a:endParaRPr lang="en-PK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8"/>
          <p:cNvSpPr txBox="1">
            <a:spLocks noGrp="1"/>
          </p:cNvSpPr>
          <p:nvPr>
            <p:ph type="title"/>
          </p:nvPr>
        </p:nvSpPr>
        <p:spPr>
          <a:xfrm>
            <a:off x="1739110" y="613931"/>
            <a:ext cx="6576799" cy="8814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KEY LEARNING OUTCOMES</a:t>
            </a:r>
            <a:endParaRPr dirty="0"/>
          </a:p>
        </p:txBody>
      </p:sp>
      <p:sp>
        <p:nvSpPr>
          <p:cNvPr id="624" name="Google Shape;624;p38"/>
          <p:cNvSpPr/>
          <p:nvPr/>
        </p:nvSpPr>
        <p:spPr>
          <a:xfrm>
            <a:off x="6745467" y="2755950"/>
            <a:ext cx="717600" cy="393600"/>
          </a:xfrm>
          <a:prstGeom prst="homePlate">
            <a:avLst>
              <a:gd name="adj" fmla="val 32030"/>
            </a:avLst>
          </a:prstGeom>
          <a:solidFill>
            <a:schemeClr val="accent4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625" name="Google Shape;625;p38"/>
          <p:cNvSpPr/>
          <p:nvPr/>
        </p:nvSpPr>
        <p:spPr>
          <a:xfrm>
            <a:off x="6169842" y="2755950"/>
            <a:ext cx="717600" cy="393600"/>
          </a:xfrm>
          <a:prstGeom prst="homePlate">
            <a:avLst>
              <a:gd name="adj" fmla="val 32030"/>
            </a:avLst>
          </a:prstGeom>
          <a:solidFill>
            <a:schemeClr val="accent4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626" name="Google Shape;626;p38"/>
          <p:cNvSpPr/>
          <p:nvPr/>
        </p:nvSpPr>
        <p:spPr>
          <a:xfrm>
            <a:off x="5594218" y="2755950"/>
            <a:ext cx="717600" cy="393600"/>
          </a:xfrm>
          <a:prstGeom prst="homePlate">
            <a:avLst>
              <a:gd name="adj" fmla="val 32030"/>
            </a:avLst>
          </a:prstGeom>
          <a:solidFill>
            <a:schemeClr val="accent4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627" name="Google Shape;627;p38"/>
          <p:cNvSpPr/>
          <p:nvPr/>
        </p:nvSpPr>
        <p:spPr>
          <a:xfrm>
            <a:off x="5018593" y="2755950"/>
            <a:ext cx="717600" cy="393600"/>
          </a:xfrm>
          <a:prstGeom prst="homePlate">
            <a:avLst>
              <a:gd name="adj" fmla="val 32030"/>
            </a:avLst>
          </a:prstGeom>
          <a:solidFill>
            <a:schemeClr val="accent3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628" name="Google Shape;628;p38"/>
          <p:cNvSpPr/>
          <p:nvPr/>
        </p:nvSpPr>
        <p:spPr>
          <a:xfrm>
            <a:off x="4442969" y="2755950"/>
            <a:ext cx="717600" cy="393600"/>
          </a:xfrm>
          <a:prstGeom prst="homePlate">
            <a:avLst>
              <a:gd name="adj" fmla="val 32030"/>
            </a:avLst>
          </a:prstGeom>
          <a:solidFill>
            <a:schemeClr val="accent3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629" name="Google Shape;629;p38"/>
          <p:cNvSpPr/>
          <p:nvPr/>
        </p:nvSpPr>
        <p:spPr>
          <a:xfrm>
            <a:off x="3867344" y="2755950"/>
            <a:ext cx="717600" cy="393600"/>
          </a:xfrm>
          <a:prstGeom prst="homePlate">
            <a:avLst>
              <a:gd name="adj" fmla="val 32030"/>
            </a:avLst>
          </a:prstGeom>
          <a:solidFill>
            <a:schemeClr val="accent3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630" name="Google Shape;630;p38"/>
          <p:cNvSpPr/>
          <p:nvPr/>
        </p:nvSpPr>
        <p:spPr>
          <a:xfrm>
            <a:off x="3291720" y="2755950"/>
            <a:ext cx="717600" cy="393600"/>
          </a:xfrm>
          <a:prstGeom prst="homePlate">
            <a:avLst>
              <a:gd name="adj" fmla="val 32030"/>
            </a:avLst>
          </a:prstGeom>
          <a:solidFill>
            <a:schemeClr val="accent2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631" name="Google Shape;631;p38"/>
          <p:cNvSpPr/>
          <p:nvPr/>
        </p:nvSpPr>
        <p:spPr>
          <a:xfrm>
            <a:off x="2716095" y="2755950"/>
            <a:ext cx="717600" cy="393600"/>
          </a:xfrm>
          <a:prstGeom prst="homePlate">
            <a:avLst>
              <a:gd name="adj" fmla="val 32030"/>
            </a:avLst>
          </a:prstGeom>
          <a:solidFill>
            <a:schemeClr val="accent2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632" name="Google Shape;632;p38"/>
          <p:cNvSpPr/>
          <p:nvPr/>
        </p:nvSpPr>
        <p:spPr>
          <a:xfrm>
            <a:off x="2140471" y="2755950"/>
            <a:ext cx="717600" cy="393600"/>
          </a:xfrm>
          <a:prstGeom prst="homePlate">
            <a:avLst>
              <a:gd name="adj" fmla="val 32030"/>
            </a:avLst>
          </a:prstGeom>
          <a:solidFill>
            <a:schemeClr val="accent2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633" name="Google Shape;633;p38"/>
          <p:cNvSpPr/>
          <p:nvPr/>
        </p:nvSpPr>
        <p:spPr>
          <a:xfrm>
            <a:off x="1564846" y="2755950"/>
            <a:ext cx="717600" cy="393600"/>
          </a:xfrm>
          <a:prstGeom prst="homePlate">
            <a:avLst>
              <a:gd name="adj" fmla="val 32030"/>
            </a:avLst>
          </a:prstGeom>
          <a:solidFill>
            <a:schemeClr val="accent1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634" name="Google Shape;634;p38"/>
          <p:cNvSpPr/>
          <p:nvPr/>
        </p:nvSpPr>
        <p:spPr>
          <a:xfrm>
            <a:off x="989222" y="2755950"/>
            <a:ext cx="717600" cy="393600"/>
          </a:xfrm>
          <a:prstGeom prst="homePlate">
            <a:avLst>
              <a:gd name="adj" fmla="val 32030"/>
            </a:avLst>
          </a:prstGeom>
          <a:solidFill>
            <a:schemeClr val="accent1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635" name="Google Shape;635;p38"/>
          <p:cNvSpPr/>
          <p:nvPr/>
        </p:nvSpPr>
        <p:spPr>
          <a:xfrm>
            <a:off x="422475" y="2755950"/>
            <a:ext cx="717600" cy="393600"/>
          </a:xfrm>
          <a:prstGeom prst="homePlate">
            <a:avLst>
              <a:gd name="adj" fmla="val 32030"/>
            </a:avLst>
          </a:prstGeom>
          <a:solidFill>
            <a:schemeClr val="accent1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636" name="Google Shape;636;p38"/>
          <p:cNvSpPr/>
          <p:nvPr/>
        </p:nvSpPr>
        <p:spPr>
          <a:xfrm>
            <a:off x="0" y="2755950"/>
            <a:ext cx="555600" cy="393600"/>
          </a:xfrm>
          <a:prstGeom prst="homePlate">
            <a:avLst>
              <a:gd name="adj" fmla="val 32030"/>
            </a:avLst>
          </a:prstGeom>
          <a:solidFill>
            <a:schemeClr val="lt2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</p:txBody>
      </p:sp>
      <p:cxnSp>
        <p:nvCxnSpPr>
          <p:cNvPr id="639" name="Google Shape;639;p38"/>
          <p:cNvCxnSpPr/>
          <p:nvPr/>
        </p:nvCxnSpPr>
        <p:spPr>
          <a:xfrm rot="10800000">
            <a:off x="1822716" y="2281931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640" name="Google Shape;640;p38"/>
          <p:cNvSpPr txBox="1"/>
          <p:nvPr/>
        </p:nvSpPr>
        <p:spPr>
          <a:xfrm>
            <a:off x="1409671" y="1646212"/>
            <a:ext cx="10896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Understanding sparse matrix computation</a:t>
            </a:r>
            <a:endParaRPr dirty="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645" name="Google Shape;645;p38"/>
          <p:cNvCxnSpPr/>
          <p:nvPr/>
        </p:nvCxnSpPr>
        <p:spPr>
          <a:xfrm rot="10800000">
            <a:off x="5279254" y="2281931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646" name="Google Shape;646;p38"/>
          <p:cNvSpPr txBox="1"/>
          <p:nvPr/>
        </p:nvSpPr>
        <p:spPr>
          <a:xfrm>
            <a:off x="4734454" y="1646212"/>
            <a:ext cx="10896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Kernel-level optimzaion</a:t>
            </a:r>
            <a:endParaRPr dirty="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653" name="Google Shape;653;p38"/>
          <p:cNvCxnSpPr/>
          <p:nvPr/>
        </p:nvCxnSpPr>
        <p:spPr>
          <a:xfrm rot="10800000">
            <a:off x="3559833" y="3124969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654" name="Google Shape;654;p38"/>
          <p:cNvSpPr txBox="1"/>
          <p:nvPr/>
        </p:nvSpPr>
        <p:spPr>
          <a:xfrm>
            <a:off x="2730052" y="3725888"/>
            <a:ext cx="1659559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" dirty="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HPCG benchmrk and System Architecture analysis</a:t>
            </a:r>
            <a:endParaRPr dirty="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659" name="Google Shape;659;p38"/>
          <p:cNvCxnSpPr/>
          <p:nvPr/>
        </p:nvCxnSpPr>
        <p:spPr>
          <a:xfrm rot="10800000">
            <a:off x="7016371" y="3124969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660" name="Google Shape;660;p38"/>
          <p:cNvSpPr txBox="1"/>
          <p:nvPr/>
        </p:nvSpPr>
        <p:spPr>
          <a:xfrm>
            <a:off x="6367506" y="3714277"/>
            <a:ext cx="1297729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Benchmarking and Performance analysis</a:t>
            </a:r>
            <a:endParaRPr dirty="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37"/>
          <p:cNvSpPr txBox="1">
            <a:spLocks noGrp="1"/>
          </p:cNvSpPr>
          <p:nvPr>
            <p:ph type="ctrTitle"/>
          </p:nvPr>
        </p:nvSpPr>
        <p:spPr>
          <a:xfrm>
            <a:off x="1752600" y="155525"/>
            <a:ext cx="56388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/>
              <a:t>CONCLUSION</a:t>
            </a:r>
            <a:endParaRPr sz="5400" dirty="0"/>
          </a:p>
        </p:txBody>
      </p:sp>
      <p:sp>
        <p:nvSpPr>
          <p:cNvPr id="617" name="Google Shape;617;p37"/>
          <p:cNvSpPr txBox="1"/>
          <p:nvPr/>
        </p:nvSpPr>
        <p:spPr>
          <a:xfrm>
            <a:off x="409575" y="1676400"/>
            <a:ext cx="2067000" cy="17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rgbClr val="FFFFFF"/>
              </a:solidFill>
            </a:endParaRP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BAD1D9C-CD6A-E911-8B98-01E5D5D9D0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67400" y="1377469"/>
            <a:ext cx="3276600" cy="3276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E6F8BE-0D8C-3773-C74E-6A95E96B1063}"/>
              </a:ext>
            </a:extLst>
          </p:cNvPr>
          <p:cNvSpPr txBox="1"/>
          <p:nvPr/>
        </p:nvSpPr>
        <p:spPr>
          <a:xfrm>
            <a:off x="2476575" y="1791329"/>
            <a:ext cx="4059125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1" indent="-285750">
              <a:buClr>
                <a:srgbClr val="1BD8D5"/>
              </a:buClr>
              <a:buFont typeface="Wingdings" panose="05000000000000000000" pitchFamily="2" charset="2"/>
              <a:buChar char="§"/>
            </a:pPr>
            <a:r>
              <a:rPr lang="en-US" sz="2000" dirty="0" err="1">
                <a:solidFill>
                  <a:srgbClr val="19BBD5"/>
                </a:solidFill>
                <a:latin typeface="Aptos Display" panose="020B0004020202020204" pitchFamily="34" charset="0"/>
              </a:rPr>
              <a:t>SpMV</a:t>
            </a:r>
            <a:r>
              <a:rPr lang="en-US" sz="2000" dirty="0">
                <a:solidFill>
                  <a:srgbClr val="19BBD5"/>
                </a:solidFill>
                <a:latin typeface="Aptos Display" panose="020B0004020202020204" pitchFamily="34" charset="0"/>
              </a:rPr>
              <a:t> kernel successfully</a:t>
            </a:r>
          </a:p>
          <a:p>
            <a:pPr lvl="1">
              <a:buClr>
                <a:srgbClr val="1BD8D5"/>
              </a:buClr>
            </a:pPr>
            <a:r>
              <a:rPr lang="en-US" sz="2000" dirty="0">
                <a:solidFill>
                  <a:srgbClr val="19BBD5"/>
                </a:solidFill>
                <a:latin typeface="Aptos Display" panose="020B0004020202020204" pitchFamily="34" charset="0"/>
              </a:rPr>
              <a:t>      optimized</a:t>
            </a:r>
            <a:endParaRPr lang="en-PK" sz="2000" dirty="0">
              <a:solidFill>
                <a:srgbClr val="19BBD5"/>
              </a:solidFill>
              <a:latin typeface="Aptos Display" panose="020B0004020202020204" pitchFamily="34" charset="0"/>
            </a:endParaRPr>
          </a:p>
          <a:p>
            <a:pPr marL="285750" lvl="1" indent="-285750">
              <a:buClr>
                <a:srgbClr val="1BD8D5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19BBD5"/>
                </a:solidFill>
                <a:latin typeface="Aptos Display" panose="020B0004020202020204" pitchFamily="34" charset="0"/>
              </a:rPr>
              <a:t>Visible performance improvement</a:t>
            </a:r>
            <a:endParaRPr lang="en-PK" sz="2000" dirty="0">
              <a:solidFill>
                <a:srgbClr val="19BBD5"/>
              </a:solidFill>
              <a:latin typeface="Aptos Display" panose="020B0004020202020204" pitchFamily="34" charset="0"/>
            </a:endParaRPr>
          </a:p>
          <a:p>
            <a:pPr marL="285750" lvl="1" indent="-285750">
              <a:buClr>
                <a:srgbClr val="1BD8D5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19BBD5"/>
                </a:solidFill>
                <a:latin typeface="Aptos Display" panose="020B0004020202020204" pitchFamily="34" charset="0"/>
              </a:rPr>
              <a:t>Correctness preserved</a:t>
            </a:r>
            <a:endParaRPr lang="en-PK" sz="2000" dirty="0">
              <a:solidFill>
                <a:srgbClr val="19BBD5"/>
              </a:solidFill>
              <a:latin typeface="Aptos Display" panose="020B0004020202020204" pitchFamily="34" charset="0"/>
            </a:endParaRPr>
          </a:p>
          <a:p>
            <a:pPr marL="285750" lvl="0" indent="-285750">
              <a:buClr>
                <a:srgbClr val="1BD8D5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19BBD5"/>
                </a:solidFill>
                <a:latin typeface="Aptos Display" panose="020B0004020202020204" pitchFamily="34" charset="0"/>
              </a:rPr>
              <a:t>Project objectives achieved</a:t>
            </a:r>
            <a:endParaRPr lang="en-PK" sz="2000" dirty="0">
              <a:solidFill>
                <a:srgbClr val="19BBD5"/>
              </a:solidFill>
              <a:latin typeface="Aptos Display" panose="020B0004020202020204" pitchFamily="34" charset="0"/>
            </a:endParaRPr>
          </a:p>
          <a:p>
            <a:endParaRPr lang="en-PK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9"/>
          <p:cNvSpPr txBox="1">
            <a:spLocks noGrp="1"/>
          </p:cNvSpPr>
          <p:nvPr>
            <p:ph type="title"/>
          </p:nvPr>
        </p:nvSpPr>
        <p:spPr>
          <a:xfrm>
            <a:off x="2306328" y="1496189"/>
            <a:ext cx="4944300" cy="64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Ideas for the future</a:t>
            </a:r>
            <a:endParaRPr dirty="0"/>
          </a:p>
        </p:txBody>
      </p:sp>
      <p:sp>
        <p:nvSpPr>
          <p:cNvPr id="521" name="Google Shape;521;p29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77E465-83FD-8B2E-B9D6-6163EE421C9C}"/>
              </a:ext>
            </a:extLst>
          </p:cNvPr>
          <p:cNvSpPr txBox="1"/>
          <p:nvPr/>
        </p:nvSpPr>
        <p:spPr>
          <a:xfrm>
            <a:off x="2828557" y="2141489"/>
            <a:ext cx="463414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Clr>
                <a:srgbClr val="19BBD5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19BBD5"/>
                </a:solidFill>
              </a:rPr>
              <a:t>SIMD Vectorization</a:t>
            </a:r>
          </a:p>
          <a:p>
            <a:pPr marL="285750" lvl="2" indent="-285750">
              <a:buClr>
                <a:srgbClr val="19BBD5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19BBD5"/>
                </a:solidFill>
              </a:rPr>
              <a:t>Cache Blocking</a:t>
            </a:r>
          </a:p>
          <a:p>
            <a:pPr marL="285750" lvl="0" indent="-285750">
              <a:buClr>
                <a:srgbClr val="19BBD5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19BBD5"/>
                </a:solidFill>
              </a:rPr>
              <a:t>Data format optimizations (SELL, ELL, CSR)</a:t>
            </a:r>
          </a:p>
          <a:p>
            <a:pPr marL="285750" lvl="0" indent="-285750">
              <a:buClr>
                <a:srgbClr val="19BBD5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19BBD5"/>
                </a:solidFill>
              </a:rPr>
              <a:t>Multithreaded </a:t>
            </a:r>
            <a:r>
              <a:rPr lang="en-US" sz="2400" b="1" dirty="0" err="1">
                <a:solidFill>
                  <a:srgbClr val="19BBD5"/>
                </a:solidFill>
              </a:rPr>
              <a:t>SpMV</a:t>
            </a:r>
            <a:endParaRPr lang="en-US" sz="2400" b="1" dirty="0">
              <a:solidFill>
                <a:srgbClr val="19BBD5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34"/>
          <p:cNvSpPr/>
          <p:nvPr/>
        </p:nvSpPr>
        <p:spPr>
          <a:xfrm rot="-5400000">
            <a:off x="1053600" y="533300"/>
            <a:ext cx="1855800" cy="2142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lnTo>
                  <a:pt x="120000" y="30000"/>
                </a:lnTo>
                <a:lnTo>
                  <a:pt x="120000" y="90000"/>
                </a:lnTo>
                <a:lnTo>
                  <a:pt x="60000" y="120000"/>
                </a:lnTo>
                <a:lnTo>
                  <a:pt x="0" y="90000"/>
                </a:lnTo>
                <a:lnTo>
                  <a:pt x="0" y="3000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2" name="Google Shape;592;p34"/>
          <p:cNvSpPr txBox="1">
            <a:spLocks noGrp="1"/>
          </p:cNvSpPr>
          <p:nvPr>
            <p:ph type="ctrTitle" idx="4294967295"/>
          </p:nvPr>
        </p:nvSpPr>
        <p:spPr>
          <a:xfrm>
            <a:off x="3916255" y="1887409"/>
            <a:ext cx="45621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 dirty="0"/>
              <a:t>Thanks!</a:t>
            </a:r>
            <a:endParaRPr sz="8000" dirty="0"/>
          </a:p>
        </p:txBody>
      </p:sp>
      <p:sp>
        <p:nvSpPr>
          <p:cNvPr id="593" name="Google Shape;593;p34"/>
          <p:cNvSpPr txBox="1">
            <a:spLocks noGrp="1"/>
          </p:cNvSpPr>
          <p:nvPr>
            <p:ph type="body" idx="4294967295"/>
          </p:nvPr>
        </p:nvSpPr>
        <p:spPr>
          <a:xfrm>
            <a:off x="4049948" y="2932909"/>
            <a:ext cx="4562100" cy="24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600" b="1" dirty="0"/>
              <a:t>Any questions?</a:t>
            </a:r>
            <a:endParaRPr dirty="0"/>
          </a:p>
        </p:txBody>
      </p:sp>
      <p:sp>
        <p:nvSpPr>
          <p:cNvPr id="594" name="Google Shape;594;p34"/>
          <p:cNvSpPr/>
          <p:nvPr/>
        </p:nvSpPr>
        <p:spPr>
          <a:xfrm>
            <a:off x="1591719" y="1212580"/>
            <a:ext cx="779561" cy="779561"/>
          </a:xfrm>
          <a:custGeom>
            <a:avLst/>
            <a:gdLst/>
            <a:ahLst/>
            <a:cxnLst/>
            <a:rect l="l" t="t" r="r" b="b"/>
            <a:pathLst>
              <a:path w="15290" h="15290" extrusionOk="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1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1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11308" y="10210"/>
                </a:moveTo>
                <a:lnTo>
                  <a:pt x="11406" y="10234"/>
                </a:lnTo>
                <a:lnTo>
                  <a:pt x="11479" y="10259"/>
                </a:lnTo>
                <a:lnTo>
                  <a:pt x="11577" y="10307"/>
                </a:lnTo>
                <a:lnTo>
                  <a:pt x="11650" y="10356"/>
                </a:lnTo>
                <a:lnTo>
                  <a:pt x="11699" y="10430"/>
                </a:lnTo>
                <a:lnTo>
                  <a:pt x="11748" y="10527"/>
                </a:lnTo>
                <a:lnTo>
                  <a:pt x="11772" y="10625"/>
                </a:lnTo>
                <a:lnTo>
                  <a:pt x="11797" y="10698"/>
                </a:lnTo>
                <a:lnTo>
                  <a:pt x="11772" y="10796"/>
                </a:lnTo>
                <a:lnTo>
                  <a:pt x="11748" y="10894"/>
                </a:lnTo>
                <a:lnTo>
                  <a:pt x="11699" y="10967"/>
                </a:lnTo>
                <a:lnTo>
                  <a:pt x="11650" y="11065"/>
                </a:lnTo>
                <a:lnTo>
                  <a:pt x="11235" y="11431"/>
                </a:lnTo>
                <a:lnTo>
                  <a:pt x="10795" y="11773"/>
                </a:lnTo>
                <a:lnTo>
                  <a:pt x="10307" y="12041"/>
                </a:lnTo>
                <a:lnTo>
                  <a:pt x="9819" y="12286"/>
                </a:lnTo>
                <a:lnTo>
                  <a:pt x="9281" y="12457"/>
                </a:lnTo>
                <a:lnTo>
                  <a:pt x="8768" y="12603"/>
                </a:lnTo>
                <a:lnTo>
                  <a:pt x="8207" y="12676"/>
                </a:lnTo>
                <a:lnTo>
                  <a:pt x="7645" y="12701"/>
                </a:lnTo>
                <a:lnTo>
                  <a:pt x="7083" y="12676"/>
                </a:lnTo>
                <a:lnTo>
                  <a:pt x="6521" y="12603"/>
                </a:lnTo>
                <a:lnTo>
                  <a:pt x="6009" y="12457"/>
                </a:lnTo>
                <a:lnTo>
                  <a:pt x="5471" y="12286"/>
                </a:lnTo>
                <a:lnTo>
                  <a:pt x="4983" y="12041"/>
                </a:lnTo>
                <a:lnTo>
                  <a:pt x="4494" y="11773"/>
                </a:lnTo>
                <a:lnTo>
                  <a:pt x="4055" y="11431"/>
                </a:lnTo>
                <a:lnTo>
                  <a:pt x="3640" y="11065"/>
                </a:lnTo>
                <a:lnTo>
                  <a:pt x="3591" y="10967"/>
                </a:lnTo>
                <a:lnTo>
                  <a:pt x="3542" y="10894"/>
                </a:lnTo>
                <a:lnTo>
                  <a:pt x="3517" y="10796"/>
                </a:lnTo>
                <a:lnTo>
                  <a:pt x="3493" y="10698"/>
                </a:lnTo>
                <a:lnTo>
                  <a:pt x="3517" y="10625"/>
                </a:lnTo>
                <a:lnTo>
                  <a:pt x="3542" y="10527"/>
                </a:lnTo>
                <a:lnTo>
                  <a:pt x="3591" y="10430"/>
                </a:lnTo>
                <a:lnTo>
                  <a:pt x="3640" y="10356"/>
                </a:lnTo>
                <a:lnTo>
                  <a:pt x="3713" y="10307"/>
                </a:lnTo>
                <a:lnTo>
                  <a:pt x="3811" y="10259"/>
                </a:lnTo>
                <a:lnTo>
                  <a:pt x="3884" y="10234"/>
                </a:lnTo>
                <a:lnTo>
                  <a:pt x="3981" y="10210"/>
                </a:lnTo>
                <a:lnTo>
                  <a:pt x="4079" y="10234"/>
                </a:lnTo>
                <a:lnTo>
                  <a:pt x="4177" y="10259"/>
                </a:lnTo>
                <a:lnTo>
                  <a:pt x="4250" y="10307"/>
                </a:lnTo>
                <a:lnTo>
                  <a:pt x="4323" y="10356"/>
                </a:lnTo>
                <a:lnTo>
                  <a:pt x="4690" y="10674"/>
                </a:lnTo>
                <a:lnTo>
                  <a:pt x="5056" y="10942"/>
                </a:lnTo>
                <a:lnTo>
                  <a:pt x="5447" y="11187"/>
                </a:lnTo>
                <a:lnTo>
                  <a:pt x="5862" y="11382"/>
                </a:lnTo>
                <a:lnTo>
                  <a:pt x="6277" y="11529"/>
                </a:lnTo>
                <a:lnTo>
                  <a:pt x="6717" y="11651"/>
                </a:lnTo>
                <a:lnTo>
                  <a:pt x="7181" y="11700"/>
                </a:lnTo>
                <a:lnTo>
                  <a:pt x="7645" y="11724"/>
                </a:lnTo>
                <a:lnTo>
                  <a:pt x="8109" y="11700"/>
                </a:lnTo>
                <a:lnTo>
                  <a:pt x="8573" y="11651"/>
                </a:lnTo>
                <a:lnTo>
                  <a:pt x="9013" y="11529"/>
                </a:lnTo>
                <a:lnTo>
                  <a:pt x="9428" y="11382"/>
                </a:lnTo>
                <a:lnTo>
                  <a:pt x="9843" y="11187"/>
                </a:lnTo>
                <a:lnTo>
                  <a:pt x="10234" y="10942"/>
                </a:lnTo>
                <a:lnTo>
                  <a:pt x="10600" y="10674"/>
                </a:lnTo>
                <a:lnTo>
                  <a:pt x="10966" y="10356"/>
                </a:lnTo>
                <a:lnTo>
                  <a:pt x="11040" y="10307"/>
                </a:lnTo>
                <a:lnTo>
                  <a:pt x="11113" y="10259"/>
                </a:lnTo>
                <a:lnTo>
                  <a:pt x="11211" y="10234"/>
                </a:lnTo>
                <a:lnTo>
                  <a:pt x="11308" y="10210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6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6" y="14533"/>
                </a:lnTo>
                <a:lnTo>
                  <a:pt x="11284" y="14362"/>
                </a:lnTo>
                <a:lnTo>
                  <a:pt x="11601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0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0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1" y="1100"/>
                </a:lnTo>
                <a:lnTo>
                  <a:pt x="11284" y="929"/>
                </a:lnTo>
                <a:lnTo>
                  <a:pt x="10966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6" y="50"/>
                </a:lnTo>
                <a:lnTo>
                  <a:pt x="803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34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ogen template">
  <a:themeElements>
    <a:clrScheme name="Custom 347">
      <a:dk1>
        <a:srgbClr val="FFFFFF"/>
      </a:dk1>
      <a:lt1>
        <a:srgbClr val="0E293C"/>
      </a:lt1>
      <a:dk2>
        <a:srgbClr val="BBC9D3"/>
      </a:dk2>
      <a:lt2>
        <a:srgbClr val="184769"/>
      </a:lt2>
      <a:accent1>
        <a:srgbClr val="00E1C6"/>
      </a:accent1>
      <a:accent2>
        <a:srgbClr val="19BBD5"/>
      </a:accent2>
      <a:accent3>
        <a:srgbClr val="2C9DDE"/>
      </a:accent3>
      <a:accent4>
        <a:srgbClr val="3274E1"/>
      </a:accent4>
      <a:accent5>
        <a:srgbClr val="4C4ED5"/>
      </a:accent5>
      <a:accent6>
        <a:srgbClr val="5CF55F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440</Words>
  <Application>Microsoft Office PowerPoint</Application>
  <PresentationFormat>On-screen Show (16:9)</PresentationFormat>
  <Paragraphs>148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Aptos Display</vt:lpstr>
      <vt:lpstr>Arial</vt:lpstr>
      <vt:lpstr>Calibri</vt:lpstr>
      <vt:lpstr>Helvetica Neue</vt:lpstr>
      <vt:lpstr>Muli</vt:lpstr>
      <vt:lpstr>Nixie One</vt:lpstr>
      <vt:lpstr>OCR-A BT</vt:lpstr>
      <vt:lpstr>OCR-A-Seagull</vt:lpstr>
      <vt:lpstr>Wingdings</vt:lpstr>
      <vt:lpstr>Imogen template</vt:lpstr>
      <vt:lpstr>Optimizing SpMV in accordance with HPCG Benchmark</vt:lpstr>
      <vt:lpstr>PowerPoint Presentation</vt:lpstr>
      <vt:lpstr>Why </vt:lpstr>
      <vt:lpstr>PowerPoint Presentation</vt:lpstr>
      <vt:lpstr>Why we selected SpMV</vt:lpstr>
      <vt:lpstr>Our process is easy</vt:lpstr>
      <vt:lpstr>Our Optimisation Strategy</vt:lpstr>
      <vt:lpstr>Where the Code was Modified</vt:lpstr>
      <vt:lpstr>PowerPoint Presentation</vt:lpstr>
      <vt:lpstr>Experimental Setup</vt:lpstr>
      <vt:lpstr>BASELINE PERFORMANCE</vt:lpstr>
      <vt:lpstr>Optimized Performance</vt:lpstr>
      <vt:lpstr>PERFORMANCE COMPARISON</vt:lpstr>
      <vt:lpstr>PowerPoint Presentation</vt:lpstr>
      <vt:lpstr>KEY LEARNING OUTCOMES</vt:lpstr>
      <vt:lpstr>CONCLUSION</vt:lpstr>
      <vt:lpstr>Ideas for the future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Ahmed Abdullah</dc:creator>
  <cp:lastModifiedBy>Mehwish</cp:lastModifiedBy>
  <cp:revision>12</cp:revision>
  <dcterms:modified xsi:type="dcterms:W3CDTF">2025-12-07T22:30:03Z</dcterms:modified>
</cp:coreProperties>
</file>